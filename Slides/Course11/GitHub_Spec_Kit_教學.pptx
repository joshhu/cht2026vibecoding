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207" d="100"/>
          <a:sy n="207" d="100"/>
        </p:scale>
        <p:origin x="20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86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5029200" cy="5029200"/>
          </a:xfrm>
          <a:prstGeom prst="ellipse">
            <a:avLst/>
          </a:prstGeom>
          <a:solidFill>
            <a:srgbClr val="B8504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31520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640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182880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完整教學指南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731520" y="3017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Vibe Coding 到 Spec-Driven Development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731520" y="3657600"/>
            <a:ext cx="228600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60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課程大綱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25296"/>
            <a:ext cx="256032" cy="2560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118872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Spec-Driven Development？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572768"/>
            <a:ext cx="256032" cy="25603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54480" y="153619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簡介與安裝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1920240"/>
            <a:ext cx="256032" cy="25603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554480" y="188366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Constitution（憲章）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267712"/>
            <a:ext cx="256032" cy="2560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554480" y="223113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Specification（規格）</a:t>
            </a:r>
            <a:endParaRPr lang="en-US" sz="140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2615184"/>
            <a:ext cx="256032" cy="25603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554480" y="257860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Plan（技術計畫）</a:t>
            </a:r>
            <a:endParaRPr lang="en-US" sz="140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97280" y="2962656"/>
            <a:ext cx="256032" cy="25603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554480" y="2926080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Tasks（任務清單）</a:t>
            </a:r>
            <a:endParaRPr lang="en-US" sz="1400" dirty="0"/>
          </a:p>
        </p:txBody>
      </p:sp>
      <p:pic>
        <p:nvPicPr>
          <p:cNvPr id="1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97280" y="3310128"/>
            <a:ext cx="256032" cy="256032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1554480" y="327355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Implementation（實作）</a:t>
            </a:r>
            <a:endParaRPr lang="en-US" sz="1400" dirty="0"/>
          </a:p>
        </p:txBody>
      </p:sp>
      <p:pic>
        <p:nvPicPr>
          <p:cNvPr id="1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7280" y="3657600"/>
            <a:ext cx="256032" cy="256032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>
            <a:off x="1554480" y="3621024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成果展示</a:t>
            </a:r>
            <a:endParaRPr lang="en-US" sz="1400" dirty="0"/>
          </a:p>
        </p:txBody>
      </p:sp>
      <p:pic>
        <p:nvPicPr>
          <p:cNvPr id="1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97280" y="4005072"/>
            <a:ext cx="256032" cy="256032"/>
          </a:xfrm>
          <a:prstGeom prst="rect">
            <a:avLst/>
          </a:prstGeom>
        </p:spPr>
      </p:pic>
      <p:sp>
        <p:nvSpPr>
          <p:cNvPr id="20" name="Text 9"/>
          <p:cNvSpPr/>
          <p:nvPr/>
        </p:nvSpPr>
        <p:spPr>
          <a:xfrm>
            <a:off x="1554480" y="3968496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支援與模型選擇</a:t>
            </a:r>
            <a:endParaRPr lang="en-US" sz="1400" dirty="0"/>
          </a:p>
        </p:txBody>
      </p:sp>
      <p:pic>
        <p:nvPicPr>
          <p:cNvPr id="2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97280" y="4352544"/>
            <a:ext cx="256032" cy="256032"/>
          </a:xfrm>
          <a:prstGeom prst="rect">
            <a:avLst/>
          </a:prstGeom>
        </p:spPr>
      </p:pic>
      <p:sp>
        <p:nvSpPr>
          <p:cNvPr id="22" name="Text 10"/>
          <p:cNvSpPr/>
          <p:nvPr/>
        </p:nvSpPr>
        <p:spPr>
          <a:xfrm>
            <a:off x="1554480" y="431596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Extensions、Presets、最佳實踐</a:t>
            </a:r>
            <a:endParaRPr lang="en-US" sz="1400" dirty="0"/>
          </a:p>
        </p:txBody>
      </p:sp>
      <p:sp>
        <p:nvSpPr>
          <p:cNvPr id="2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4" name="Text 1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5" name="Text 1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什麼是 SDD？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核心概念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Spec-Driven Development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B850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3716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規格不是為程式碼服務的</a:t>
            </a:r>
            <a:endParaRPr lang="en-US" sz="2000" dirty="0"/>
          </a:p>
          <a:p>
            <a:pPr marL="0" indent="0">
              <a:buNone/>
            </a:pPr>
            <a:r>
              <a:rPr lang="en-US" sz="20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— 程式碼才是為規格服務的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將「規格」從輔助文件提升為</a:t>
            </a:r>
            <a:endParaRPr lang="en-US" sz="18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可執行的核心產出物。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3566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當需求變更時，只需更新規格，</a:t>
            </a:r>
            <a:endParaRPr lang="en-US" sz="16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即可系統性重新生成程式碼。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Vibe Coding 的問題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64008" cy="685800"/>
          </a:xfrm>
          <a:prstGeom prst="rect">
            <a:avLst/>
          </a:prstGeom>
          <a:solidFill>
            <a:srgbClr val="7A6B65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模糊指令給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缺乏結構化的需求描述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03120"/>
            <a:ext cx="64008" cy="685800"/>
          </a:xfrm>
          <a:prstGeom prst="rect">
            <a:avLst/>
          </a:prstGeom>
          <a:solidFill>
            <a:srgbClr val="7A6B65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低可重現性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每次生成結果不同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64008" cy="685800"/>
          </a:xfrm>
          <a:prstGeom prst="rect">
            <a:avLst/>
          </a:prstGeom>
          <a:solidFill>
            <a:srgbClr val="7A6B65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難以追蹤設計決策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沒有文件記錄為什麼這樣做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49040"/>
            <a:ext cx="64008" cy="685800"/>
          </a:xfrm>
          <a:prstGeom prst="rect">
            <a:avLst/>
          </a:prstGeom>
          <a:solidFill>
            <a:srgbClr val="7A6B65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不斷修補程式碼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治標不治本的無限迴圈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的解答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64008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25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結構化規格驅動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精確告訴 AI 要做什麼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103120"/>
            <a:ext cx="64008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高可重現性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468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同一規格 = 同一結果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926080"/>
            <a:ext cx="64008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規格即文件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任何人都能讀懂需求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3749040"/>
            <a:ext cx="64008" cy="6858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7947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更新規格後重新生成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不修 code，修 spec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認識 Spec Kit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開源的 SDD 工具包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60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 Kit 是什麼？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280160"/>
            <a:ext cx="768096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開源工具包，發布一週即獲 16,000+ 星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60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四大核心元件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60020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specify CLI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4592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命令列工具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自動化 SDD 專案 scaffolding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00200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669280" y="1417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Slash Commands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5669280" y="1828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 AI Agent 搭配的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提示指令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7432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06324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4592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4592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結構化模板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約束 LLM 輸出品質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754880" y="2743200"/>
            <a:ext cx="365760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063240"/>
            <a:ext cx="457200" cy="4572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66928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Helper Scripts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5669280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分支、JSON 元資料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等輔助腳本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60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五步驟工作流程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463040"/>
            <a:ext cx="914400" cy="914400"/>
          </a:xfrm>
          <a:prstGeom prst="ellipse">
            <a:avLst/>
          </a:prstGeom>
          <a:solidFill>
            <a:srgbClr val="8C3A3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69164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憲章</a:t>
            </a:r>
            <a:endParaRPr lang="en-US" sz="12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1783080"/>
            <a:ext cx="274320" cy="27432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423160" y="1463040"/>
            <a:ext cx="914400" cy="914400"/>
          </a:xfrm>
          <a:prstGeom prst="ellipse">
            <a:avLst/>
          </a:prstGeom>
          <a:solidFill>
            <a:srgbClr val="B850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51760" y="1691640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19456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219456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783080"/>
            <a:ext cx="274320" cy="274320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160520" y="1463040"/>
            <a:ext cx="914400" cy="914400"/>
          </a:xfrm>
          <a:prstGeom prst="ellipse">
            <a:avLst/>
          </a:prstGeom>
          <a:solidFill>
            <a:srgbClr val="E8826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1691640"/>
            <a:ext cx="457200" cy="4572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393192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393192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計畫</a:t>
            </a:r>
            <a:endParaRPr lang="en-US" sz="12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783080"/>
            <a:ext cx="274320" cy="27432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897880" y="1463040"/>
            <a:ext cx="914400" cy="914400"/>
          </a:xfrm>
          <a:prstGeom prst="ellipse">
            <a:avLst/>
          </a:prstGeom>
          <a:solidFill>
            <a:srgbClr val="D4A57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26480" y="1691640"/>
            <a:ext cx="457200" cy="457200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66928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</a:t>
            </a:r>
            <a:endParaRPr lang="en-US" sz="1400" dirty="0"/>
          </a:p>
        </p:txBody>
      </p:sp>
      <p:sp>
        <p:nvSpPr>
          <p:cNvPr id="21" name="Text 12"/>
          <p:cNvSpPr/>
          <p:nvPr/>
        </p:nvSpPr>
        <p:spPr>
          <a:xfrm>
            <a:off x="566928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</a:t>
            </a:r>
            <a:endParaRPr lang="en-US" sz="12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1783080"/>
            <a:ext cx="274320" cy="274320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7635240" y="1463040"/>
            <a:ext cx="914400" cy="914400"/>
          </a:xfrm>
          <a:prstGeom prst="ellipse">
            <a:avLst/>
          </a:prstGeom>
          <a:solidFill>
            <a:srgbClr val="7A9E8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24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63840" y="1691640"/>
            <a:ext cx="457200" cy="457200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7406640" y="2514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</a:t>
            </a:r>
            <a:endParaRPr lang="en-US" sz="1400" dirty="0"/>
          </a:p>
        </p:txBody>
      </p:sp>
      <p:sp>
        <p:nvSpPr>
          <p:cNvPr id="26" name="Text 15"/>
          <p:cNvSpPr/>
          <p:nvPr/>
        </p:nvSpPr>
        <p:spPr>
          <a:xfrm>
            <a:off x="740664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</a:t>
            </a:r>
            <a:endParaRPr lang="en-US" sz="1200" dirty="0"/>
          </a:p>
        </p:txBody>
      </p:sp>
      <p:sp>
        <p:nvSpPr>
          <p:cNvPr id="27" name="Text 1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每一步都有對應的 Slash Command 指令</a:t>
            </a:r>
            <a:endParaRPr lang="en-US" sz="1400" dirty="0"/>
          </a:p>
        </p:txBody>
      </p:sp>
      <p:sp>
        <p:nvSpPr>
          <p:cNvPr id="28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9" name="Text 1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30" name="Text 1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60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Slash Commands 對照表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196596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階段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/speckit.constitution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建立不可妥協的專案原則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/speckit.specify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定義「做什麼」和「為什麼」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/speckit.plan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制定「怎麼做」的技術計畫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/speckit.tasks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拆解為可執行任務清單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/speckit.implement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 逐一實作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60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安裝方式 ❶ — uvx（推薦）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 uv tool install 安裝到系統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377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 tool install specify-cli \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--from git+https://github.com/github/spec-kit.git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安裝後即可全域使用 specify 指令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60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安裝方式 ❷ — 一次性使用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使用 uvx 直接執行，不需安裝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377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uvx --from git+https://github.com/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github/spec-kit.git specify init &lt;PROJECT&gt;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適合快速試用或 CI/CD 環境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60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安裝方式 ❸ — 手動下載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828800" y="1508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從 GitHub Releases 下載 zip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77440"/>
            <a:ext cx="7315200" cy="109728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37744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從 GitHub Releases 下載 zip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解壓縮後放入專案資料夾即可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適合無法使用 uv 的環境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60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實戰演示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以建立 Podcast 網站為例，走過完整 SDD 流程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60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初始化專案（specify init）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 specify CLI 建立 SDD 專案結構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60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選擇 AI Agent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 會要求選擇 AI Agent 與 Script 類型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60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初始化步驟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28016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uvx ... specify init pod-site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21031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AI Agent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（Copilot / Claude Code / Cursor / Gemini 等）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301752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92608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選擇 Script 類型（Shell / PowerShell）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84048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840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7490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自動產出 .github/prompts/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和 .specify/ 資料夾結構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60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初始化後的專案結構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VS Code 中開啟專案目錄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60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資料夾結構詳解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74320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37160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pod-site/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prompts/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speckit.plan.prompt.md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├── speckit.specify.prompt.md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speckit.tasks.prompt.md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.specify/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882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memory/constitution.md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scripts/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templates/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60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VS Code 注意事項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必須在專案根目錄下開啟 VS Code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731520" y="3291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Slash Commands 才能正確被辨識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若在上一層目錄開啟，則不會看到指令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60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建立 Constitution（憲章）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專案的「憲法」— 定義不可妥協的原則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在每個步驟都必須遵守這些原則。</a:t>
            </a:r>
            <a:endParaRPr lang="en-US" sz="14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286000"/>
            <a:ext cx="6400800" cy="219456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60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範例：三條核心原則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280160"/>
            <a:ext cx="64008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5331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I — Static-First Delivery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69164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不使用伺服器端執行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所有內容都是靜態生成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377440"/>
            <a:ext cx="64008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45059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II — Simplicity Over Tooling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27889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優先使用原生 HTML/CSS/JS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避免過度複雜的工具鏈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7680960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3474720"/>
            <a:ext cx="64008" cy="8686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5478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Article III — Accessibility &amp; SEO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05840" y="3886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語意化 HTML、meta 標籤、sitemap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確保所有人都能存取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60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 的作用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371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在後續每個階段都會被引用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2103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階段：確保技術決策不違反原則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階段：每個任務都要符合憲章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3566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階段：AI Agent 生成程式碼前先檢查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2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60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定義 Specification（規格）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7680960" cy="64008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核心：只定義「做什麼」和「為什麼」</a:t>
            </a:r>
            <a:endParaRPr lang="en-US" sz="1500" dirty="0"/>
          </a:p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完全不涉及技術實作細節</a:t>
            </a:r>
            <a:endParaRPr lang="en-US" sz="15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92024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8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60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 範例提示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188720"/>
            <a:ext cx="6400800" cy="228600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4" name="Text 2"/>
          <p:cNvSpPr/>
          <p:nvPr/>
        </p:nvSpPr>
        <p:spPr>
          <a:xfrm>
            <a:off x="1828800" y="1371600"/>
            <a:ext cx="5486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am building a modern podcast
website to look sleek.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7E8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Should have: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Landing page + featured episode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Episodes page (20 mocked)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About page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7BEA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FAQ page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注意：完全不提 Next.js、React 等技術細節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60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 的產出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18872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Text 1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自動生成結構化規格文件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60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 包含的內容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508760"/>
            <a:ext cx="228600" cy="228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53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Quick Guidelines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28016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規格撰寫指南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508760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03520" y="1353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User Scenarios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5303520" y="1691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使用者故事與驗收情境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731520" y="22860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514600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Cases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128016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邊界情況處理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4754880" y="228600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51460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23591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Req.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5303520" y="26974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功能需求清單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731520" y="329184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52044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80160" y="3364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Acceptance Checklist</a:t>
            </a:r>
            <a:endParaRPr lang="en-US" sz="1400" dirty="0"/>
          </a:p>
        </p:txBody>
      </p:sp>
      <p:sp>
        <p:nvSpPr>
          <p:cNvPr id="22" name="Text 15"/>
          <p:cNvSpPr/>
          <p:nvPr/>
        </p:nvSpPr>
        <p:spPr>
          <a:xfrm>
            <a:off x="128016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驗收清單</a:t>
            </a:r>
            <a:endParaRPr lang="en-US" sz="1100" dirty="0"/>
          </a:p>
        </p:txBody>
      </p:sp>
      <p:sp>
        <p:nvSpPr>
          <p:cNvPr id="23" name="Shape 16"/>
          <p:cNvSpPr/>
          <p:nvPr/>
        </p:nvSpPr>
        <p:spPr>
          <a:xfrm>
            <a:off x="4754880" y="3291840"/>
            <a:ext cx="36576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520440"/>
            <a:ext cx="228600" cy="2286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303520" y="336499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Clarification Log</a:t>
            </a:r>
            <a:endParaRPr lang="en-US" sz="1400" dirty="0"/>
          </a:p>
        </p:txBody>
      </p:sp>
      <p:sp>
        <p:nvSpPr>
          <p:cNvPr id="26" name="Text 18"/>
          <p:cNvSpPr/>
          <p:nvPr/>
        </p:nvSpPr>
        <p:spPr>
          <a:xfrm>
            <a:off x="5303520" y="3703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需要人工釐清的項目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731520" y="384048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28" name="Text 20"/>
          <p:cNvSpPr/>
          <p:nvPr/>
        </p:nvSpPr>
        <p:spPr>
          <a:xfrm>
            <a:off x="914400" y="3840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同一份 Spec 可用 Next.js、Hugo、Astro 等不同框架實作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0" name="Text 2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60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制定 Plan（技術計畫）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階段同時讀取 Specification 和 Constitution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確保技術決策不違反核心原則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011680"/>
            <a:ext cx="6400800" cy="237744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60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產出的內容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Flow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執行流程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Context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276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技術上下文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Dependencies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450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依賴套件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937760" y="21488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Target Platform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450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目標平台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9260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1440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Constitution Checks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3273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原則檢查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92608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937760" y="2971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Gates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273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架構驗證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74904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1440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Contract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資料契約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749040"/>
            <a:ext cx="3657600" cy="640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37947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40965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技術研究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60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階段的提示範例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7315200" cy="137160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3716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Next.js with static site configuration.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databases.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Responsive and mobile-ready.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在此階段才開始提到技術選型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定義「做什麼」，Plan 決定「怎麼做」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/ 60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拆解 Tasks（任務清單）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將計畫拆解為可執行的獨立工作單元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/ 60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任務的五個階段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64008" cy="548640"/>
          </a:xfrm>
          <a:prstGeom prst="rect">
            <a:avLst/>
          </a:prstGeom>
          <a:solidFill>
            <a:srgbClr val="8C3A3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C3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887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Setup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023360" y="1188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初始化 Next.js App 骨架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18745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874520"/>
            <a:ext cx="64008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18745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Test-First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023360" y="1874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撰寫測試（TDD），確認失敗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2560320"/>
            <a:ext cx="64008" cy="548640"/>
          </a:xfrm>
          <a:prstGeom prst="rect">
            <a:avLst/>
          </a:prstGeom>
          <a:solidFill>
            <a:srgbClr val="E8826A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5603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8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Impl.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023360" y="2560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/ Episodes / About / FAQ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32461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246120"/>
            <a:ext cx="64008" cy="5486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" y="32461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023360" y="32461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整合測試（Lighthouse 等）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" y="3931920"/>
            <a:ext cx="64008" cy="548640"/>
          </a:xfrm>
          <a:prstGeom prst="rect">
            <a:avLst/>
          </a:prstGeom>
          <a:solidFill>
            <a:srgbClr val="7A9E8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5840" y="3931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011680" y="39319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023360" y="3931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響應式、圖片最佳化、無障礙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/ 60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Tasks 的特性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6304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137160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每個任務是獨立、可審查的工作單元</a:t>
            </a:r>
            <a:endParaRPr lang="en-US" sz="1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1945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63040" y="210312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類似 TDD 精神 — 先寫測試再實作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63040" y="28346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任務之間有明確的依賴關係</a:t>
            </a:r>
            <a:endParaRPr lang="en-US" sz="16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65760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63040" y="356616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每個任務完成後可以單獨驗證</a:t>
            </a:r>
            <a:endParaRPr lang="en-US" sz="1600" dirty="0"/>
          </a:p>
        </p:txBody>
      </p:sp>
      <p:sp>
        <p:nvSpPr>
          <p:cNvPr id="11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2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3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/ 60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365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Implementation（實作）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依 tasks.md 逐一實作</a:t>
            </a:r>
            <a:endParaRPr lang="en-US" sz="16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1828800"/>
            <a:ext cx="6400800" cy="256032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7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/ 60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實作流程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2801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645920" y="11887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切換模型至 Claude Sonnet 4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（程式碼生成品質最佳）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8745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 /implement 指令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26517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5603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依 tasks.md 逐一實作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33375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2461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每完成一個任務即更新狀態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393192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&amp;&amp; npm run dev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/ 60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 指令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1828800"/>
            <a:ext cx="6858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/implement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 the tasks for this project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D4A5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and update the task list as you go.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會自動讀取所有之前的輸出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包括 Constitution、Specification、Plan 和 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/ 60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成果展示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網站最終成品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/ 60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首頁 Landing Page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20040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/ 60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Episodes 列表頁面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200400"/>
          </a:xfrm>
          <a:prstGeom prst="rect">
            <a:avLst/>
          </a:prstGeom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pic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/ 60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成果總覽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44752"/>
            <a:ext cx="320040" cy="320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首頁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554480" y="1645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主視覺 + 精選集數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31520" y="210312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267712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Episodes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55448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集模擬資料 + 標籤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31520" y="292608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090672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971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About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554480" y="3291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關於頁面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3749040"/>
            <a:ext cx="768096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913632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FAQ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554480" y="4114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常見問題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20" name="Text 1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/ 60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Agent 支援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超過 20 種 AI 編碼 Agent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/ 60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支援的 AI Agent（上）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Copilot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280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Agent Mode，Slash Commands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終端機使用，擅長研究與程式碼生成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Cursor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 Agent（新增支援）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Gemini CLI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命令列 AI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0233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4023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Windsurf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40233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Codeium AI IDE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 / 60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支援的 AI Agent（下）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 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74720" y="12801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阿里巴巴 AI 編碼工具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6596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JetBrains Junie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74720" y="19659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 IDE AI Agent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Kiro CLI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6517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AI 開發工具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333756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Generic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33756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通用選項，支援未列出的 Agent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/ 60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模型選擇建議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371600"/>
            <a:ext cx="3657600" cy="6400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規格 / 計畫階段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使用推理型模型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（GPT-5 等）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擅長理解需求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結構化輸出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65760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371600"/>
            <a:ext cx="3657600" cy="64008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實作階段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使用程式碼型模型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（Claude Sonnet 4 等）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擅長生成高品質程式碼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理解上下文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多做實驗，結果因場景而異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 / 60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進階功能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Extensions、Presets、Overrides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 / 60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優先級架構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971800" y="1188720"/>
            <a:ext cx="3200400" cy="594360"/>
          </a:xfrm>
          <a:prstGeom prst="rect">
            <a:avLst/>
          </a:prstGeom>
          <a:solidFill>
            <a:srgbClr val="8C3A30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2971800" y="1188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Project-Local Overrides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286000" y="1965960"/>
            <a:ext cx="4572000" cy="594360"/>
          </a:xfrm>
          <a:prstGeom prst="rect">
            <a:avLst/>
          </a:prstGeom>
          <a:solidFill>
            <a:srgbClr val="B85042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0" y="19659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600200" y="2743200"/>
            <a:ext cx="5943600" cy="594360"/>
          </a:xfrm>
          <a:prstGeom prst="rect">
            <a:avLst/>
          </a:prstGeom>
          <a:solidFill>
            <a:srgbClr val="E8826A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00200" y="274320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914400" y="3520440"/>
            <a:ext cx="7315200" cy="594360"/>
          </a:xfrm>
          <a:prstGeom prst="rect">
            <a:avLst/>
          </a:prstGeom>
          <a:solidFill>
            <a:srgbClr val="D4A57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520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Core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11887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優先級高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35204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優先級低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/ 60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新增功能模組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例如：安全審查步驟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擴展工作流程而不修改核心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不影響 Spec Kit 核心行為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/ 60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客製化核心行為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例如：特定風格的提示語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改變 Spec Kit 的預設行為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修改核心行為但不影響原始碼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/ 60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Project-Local Overrides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7A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專案級覆寫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最高優先級</a:t>
            </a:r>
            <a:endParaRPr lang="en-US" sz="2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2000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無需修改原始碼即可覆寫任何設定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solidFill>
            <a:srgbClr val="F5E6D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適合團隊中每個專案有不同需求的情境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/ 60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8C3A30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最佳實踐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Practices &amp; 注意事項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/ 60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最佳實踐：規格撰寫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68880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Specify 階段不提技術細節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0896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2024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善用 Constitution 放共通原則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4904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2024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產出只是起點，人工審查必要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1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/ 60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最佳實踐：模型選擇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68880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 / 計畫：推理型模型（GPT-5）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0896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2024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實作：程式碼型模型（Sonnet 4）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4904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2024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多做實驗，結果因場景而異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1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/ 60</a:t>
            </a:r>
            <a:endParaRPr lang="en-US" sz="9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最佳實踐：Git 工作流程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68880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自動建立 Git 分支隔離功能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0896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2024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不滿意可刪除分支重來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4904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2024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規格文件始終保留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1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/ 60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最佳實踐：迭代策略</a:t>
            </a:r>
            <a:endParaRPr lang="en-US" sz="28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1188720"/>
            <a:ext cx="914400" cy="914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2468880"/>
            <a:ext cx="274320" cy="2743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920240" y="2377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同一規格、不同技術棧重新實作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08960"/>
            <a:ext cx="274320" cy="27432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920240" y="301752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增量開發：每功能獨立子資料夾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749040"/>
            <a:ext cx="274320" cy="27432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920240" y="3657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已有專案也可用 Spec Kit 管理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1" name="Text 5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/ 60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specify init 常用 CLI 參數（上）</a:t>
            </a:r>
            <a:endParaRPr lang="en-US" sz="2800" dirty="0"/>
          </a:p>
        </p:txBody>
      </p:sp>
      <p:graphicFrame>
        <p:nvGraphicFramePr>
          <p:cNvPr id="5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&lt;project-name&gt;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位置參數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專案目錄名稱（. 表示當前目錄）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Agent（claude / copilot / cursor / gemini）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--script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腳本類型：sh 或 ps（PowerShell）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在當前目錄初始化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--force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強制合併，不需確認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/ 60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specify init 常用 CLI 參數（下）</a:t>
            </a:r>
            <a:endParaRPr lang="en-US" sz="2800" dirty="0"/>
          </a:p>
        </p:txBody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175564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參數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類型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說明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--no-git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跳過 Git 初始化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--ai-skills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以 Agent Skills 形式安裝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--branch-numbering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選項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sequential（預設）或 timestamp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--debug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旗標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啟用除錯輸出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/ 60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重點回顧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28016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118872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意圖即真相 — 規格取代程式碼成為核心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182880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920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63040" y="18288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可重現性 — 同一規格可生成多個實作變體</a:t>
            </a:r>
            <a:endParaRPr lang="en-US" sz="1500" dirty="0"/>
          </a:p>
        </p:txBody>
      </p:sp>
      <p:sp>
        <p:nvSpPr>
          <p:cNvPr id="9" name="Shape 5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2560320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246888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團隊協作 — Markdown 格式，任何人可讀可改</a:t>
            </a:r>
            <a:endParaRPr lang="en-US" sz="1500" dirty="0"/>
          </a:p>
        </p:txBody>
      </p:sp>
      <p:sp>
        <p:nvSpPr>
          <p:cNvPr id="12" name="Shape 7"/>
          <p:cNvSpPr/>
          <p:nvPr/>
        </p:nvSpPr>
        <p:spPr>
          <a:xfrm>
            <a:off x="731520" y="310896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320040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463040" y="310896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增量迭代 — 每功能獨立 Spec → Plan → Tasks → Impl</a:t>
            </a:r>
            <a:endParaRPr lang="en-US" sz="1500" dirty="0"/>
          </a:p>
        </p:txBody>
      </p:sp>
      <p:sp>
        <p:nvSpPr>
          <p:cNvPr id="15" name="Shape 9"/>
          <p:cNvSpPr/>
          <p:nvPr/>
        </p:nvSpPr>
        <p:spPr>
          <a:xfrm>
            <a:off x="731520" y="374904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3840480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463040" y="374904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B2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品質把關 — Constitution + Checklist 雙重保障</a:t>
            </a:r>
            <a:endParaRPr lang="en-US" sz="1500" dirty="0"/>
          </a:p>
        </p:txBody>
      </p:sp>
      <p:sp>
        <p:nvSpPr>
          <p:cNvPr id="18" name="Shape 1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9" name="Text 1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 / 60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B2C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SDD vs. 傳統 AI 開發</a:t>
            </a:r>
            <a:endParaRPr lang="en-US" sz="2800" dirty="0"/>
          </a:p>
        </p:txBody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8016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2C2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Vibe Coding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A6B6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Spec-Driven Dev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需求描述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模糊口頭指令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結構化規格文件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可重現性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低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決策追蹤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Constitution + Spec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技術變更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重寫程式碼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更新規格後重新生成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團隊協作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困難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Markdown 人人可讀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品質保證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手動測試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B2C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TDD + 驗收清單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5E6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5" name="Text 2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/ 60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3B2C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B85042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E8826A">
              <a:alpha val="6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828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開始你的 Spec-Driven 之旅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7" name="Text 4"/>
          <p:cNvSpPr/>
          <p:nvPr/>
        </p:nvSpPr>
        <p:spPr>
          <a:xfrm>
            <a:off x="2286000" y="30175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github.com/github/spec-kit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感謝觀看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B2C2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54880"/>
            <a:ext cx="4572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Spec Kit 完整教學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858000" y="4754880"/>
            <a:ext cx="18288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/ 60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1716</Words>
  <Application>Microsoft Macintosh PowerPoint</Application>
  <PresentationFormat>如螢幕大小 (16:9)</PresentationFormat>
  <Paragraphs>598</Paragraphs>
  <Slides>60</Slides>
  <Notes>60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60</vt:i4>
      </vt:variant>
    </vt:vector>
  </HeadingPairs>
  <TitlesOfParts>
    <vt:vector size="65" baseType="lpstr">
      <vt:lpstr>Arial</vt:lpstr>
      <vt:lpstr>Calibri</vt:lpstr>
      <vt:lpstr>Consolas</vt:lpstr>
      <vt:lpstr>Georgia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GitHub Spec Kit 完整教學</dc:title>
  <dc:subject>PptxGenJS Presentation</dc:subject>
  <dc:creator>Josh</dc:creator>
  <cp:lastModifiedBy>Josh Hu</cp:lastModifiedBy>
  <cp:revision>2</cp:revision>
  <dcterms:created xsi:type="dcterms:W3CDTF">2026-03-24T16:58:48Z</dcterms:created>
  <dcterms:modified xsi:type="dcterms:W3CDTF">2026-03-25T01:36:01Z</dcterms:modified>
</cp:coreProperties>
</file>