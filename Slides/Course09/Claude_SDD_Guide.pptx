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392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400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× Spec-Driven Development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完全指南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從規格驅動開發到 AI 輔助的完整工作流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你用 Claude 開發的方式，可能從一開始就錯了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7680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2860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大多數開發者用 Claude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只發揮了它 20% 的能力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828800" y="3383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問題不在 Claude，在用法。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搭配 Spec-Driven Development，效率可以翻倍。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你將學到的五大主題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124712"/>
            <a:ext cx="502920" cy="502920"/>
          </a:xfrm>
          <a:prstGeom prst="ellipse">
            <a:avLst/>
          </a:prstGeom>
          <a:solidFill>
            <a:srgbClr val="1414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22529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提示詞結構化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1399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三步框架 × 開發情境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0" y="1143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31520" y="1847088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14141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20208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1892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模型選擇策略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91640" y="2194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用任務難度匹配模型能力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498080" y="1938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731520" y="2642616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DDE8D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2715768"/>
            <a:ext cx="502920" cy="502920"/>
          </a:xfrm>
          <a:prstGeom prst="ellipse">
            <a:avLst/>
          </a:prstGeom>
          <a:solidFill>
            <a:srgbClr val="14141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2816352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2688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四大隱藏功能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91640" y="2990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Projects・Research・Skills・Chrome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498080" y="27340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1520" y="3438144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0120" y="3511296"/>
            <a:ext cx="502920" cy="502920"/>
          </a:xfrm>
          <a:prstGeom prst="ellipse">
            <a:avLst/>
          </a:prstGeom>
          <a:solidFill>
            <a:srgbClr val="14141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611880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34838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進階開發工具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691640" y="3785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Code・Cowork・SDD 流程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498080" y="35295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731520" y="4233672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60120" y="4306824"/>
            <a:ext cx="502920" cy="502920"/>
          </a:xfrm>
          <a:prstGeom prst="ellipse">
            <a:avLst/>
          </a:prstGeom>
          <a:solidFill>
            <a:srgbClr val="141413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" y="4407408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9164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實戰範例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1691640" y="45811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從規格到部署的完整案例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498080" y="4325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什麼是 Spec-Driven Development？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258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先寫規格，再寫程式碼。用文件驅動開發流程，而不是用程式碼驅動文件。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560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2560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2560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撰寫規格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2560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560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560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2560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2560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2560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0" y="2560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D9775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2560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47472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3611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可以在每一個階段加速你的工作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023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PRD 撰寫 → API 規格 → Schema 設計 → 程式碼生成 → 測試案例 → Code Review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+ Claude = 開發效率翻倍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F5DDD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需求階段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11880" y="10972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23360" y="1097280"/>
            <a:ext cx="43891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10972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協助釐清需求、產出 PRD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847088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F5DDD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470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規格階段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84708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23360" y="1847088"/>
            <a:ext cx="43891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06240" y="184708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生成 API Spec、DB Schema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596896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F5DDD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9689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實作階段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59689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23360" y="2596896"/>
            <a:ext cx="43891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59689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直接寫程式、除錯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346704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F5DDD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467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測試階段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33467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23360" y="3346704"/>
            <a:ext cx="43891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06240" y="334670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產出測試案例、邊界條件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096512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F5DDD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965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階段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11880" y="409651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023360" y="4096512"/>
            <a:ext cx="43891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06240" y="409651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做 Code Review、找潛在問題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977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提示詞結構化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你的提示詞，可能一直在浪費它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你是不是也這樣下指令？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280160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FCE8E8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94560" y="1371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「幫我寫一個 API」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371600" y="2286000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FCE8E8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94560" y="2377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「這段程式碼有 bug，幫我修」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291840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FCE8E8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94560" y="3383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「幫我設計資料庫」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結果：Claude 猜你要什麼，產出的程式碼不符需求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內部框架：三步就夠了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463040"/>
            <a:ext cx="822960" cy="8229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專案是什麼？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技術棧？團隊？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463040"/>
            <a:ext cx="822960" cy="82296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7490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具體要 Claude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做什麼？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1463040"/>
            <a:ext cx="822960" cy="82296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836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程式風格、限制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效能要求、規範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468880"/>
            <a:ext cx="365760" cy="365760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4688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1：背景（Context）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3350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告訴 Claude 你的專案、技術棧、團隊角色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94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這是什麼專案？（電商平台 / SaaS / 行動 App）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432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697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技術棧是什麼？（Next.js + TypeScript + PostgreSQL）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4612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200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你的角色？（後端工程師 / 全端 / Tech Lead）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4904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3703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目前開發階段？（MVP / 重構 / 新增功能）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背景範例：開發情境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1097280" cy="32004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範例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我們正在開發一個 B2B SaaS 訂閱管理平台，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技術棧：Next.js 14 + TypeScript + Prisma + PostgreSQL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目前處於 MVP 階段，團隊 3 人。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76809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200400"/>
            <a:ext cx="1097280" cy="32004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範例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我負責一個既有的 React Native 電商 App，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後端是 Node.js + Express + MongoDB，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目前要加入第三方金流整合（綠界 ECPay）。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2：任務（Task）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0" cy="73152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3350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具體要 Claude 做什麼——越具體，偏差越小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28600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CE8E8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太寬泛 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2834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「幫我寫一個 API」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46320" y="228600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E8F5E8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夠具體 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6320" y="2743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「為用戶訂閱模組撰寫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 API endpoint 的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OpenAPI 3.0 規格」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任務範例：開發任務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280160" cy="45720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設計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188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撰寫 /api/subscriptions 的 RESTful endpoint 規格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280160" cy="45720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 users、plans、subscriptions 三張表的 Prisma schema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280160" cy="45720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17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針對訂閱建立流程，撰寫 10 個 edge case 測試案例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280160" cy="45720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31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將 payment.service.ts 從 class-based 改為 functional style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3：規則（Constraints）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0" cy="731520"/>
          </a:xfrm>
          <a:prstGeom prst="ellipse">
            <a:avLst/>
          </a:prstGeom>
          <a:solidFill>
            <a:srgbClr val="788C5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3350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對輸出的規範——不說，Claude 只能猜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286000"/>
            <a:ext cx="1097280" cy="347472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286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語言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86000" y="22860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 strict mode、ESLint airbnb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2788920"/>
            <a:ext cx="1097280" cy="347472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7889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風格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286000" y="27889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函式風格、避免 class、用 Zod 驗證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05840" y="3291840"/>
            <a:ext cx="1097280" cy="347472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291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效能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286000" y="32918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單次查詢 &lt; 100ms、支援分頁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005840" y="3794760"/>
            <a:ext cx="1097280" cy="347472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3794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286000" y="37947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所有 input 必須驗證、避免 SQL injection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規則範例：開發規範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1097280" cy="32004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前端規範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React 18 + TypeScript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使用 shadcn/ui 元件庫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響應式設計（mobile-first）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每個元件都要有 Props interface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1097280" cy="32004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後端規範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Node.js 20 + Express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RESTful API 設計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Error handling 用 Result pattern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所有 route 都要有 Zod validation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7680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840480"/>
            <a:ext cx="1097280" cy="320040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通用規範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程式碼必須含 JSDoc 註解  • 單元測試覆蓋率 &gt; 80%  • 遵守 Conventional Commits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模糊指令 ✕ — 開發實例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474720"/>
          </a:xfrm>
          <a:prstGeom prst="roundRect">
            <a:avLst>
              <a:gd name="adj" fmla="val 3158"/>
            </a:avLst>
          </a:prstGeom>
          <a:solidFill>
            <a:srgbClr val="FCE8E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開發者輸入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737360"/>
            <a:ext cx="7132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83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幫我寫一個使用者登入的 API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可能產出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926080"/>
            <a:ext cx="7132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175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用了你不用的框架（如 Flask）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Session-based 但你要的是 JWT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沒有 input validation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沒有 error handling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你花更多時間重寫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結構化指令 ✓ — 開發實例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474720"/>
          </a:xfrm>
          <a:prstGeom prst="roundRect">
            <a:avLst>
              <a:gd name="adj" fmla="val 3158"/>
            </a:avLst>
          </a:prstGeom>
          <a:solidFill>
            <a:srgbClr val="E8F5E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開發者輸入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0"/>
            <a:ext cx="71323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3736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背景：</a:t>
            </a: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14 App Router + Prisma + PostgreSQL 的 SaaS 平台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任務：</a:t>
            </a: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實作 POST /api/auth/login 的 Route Handler，支援 email + password 登入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規則：</a:t>
            </a: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+ HttpOnly cookie、用 Zod 驗證 input、bcrypt 比對密碼、統一 error format、附 JSDoc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同一個 Claude，結構化指令的產出品質天壤之別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CE8E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模糊指令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猜測你的技術棧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不符合專案規範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花時間重寫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效率打折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E8F5E8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結構化指令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精準匹配技術棧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符合程式規範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直接可用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開發效率翻倍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5603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實作範例：用 Claude 撰寫 PRD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1097280" cy="32004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我們的 SaaS 平台需要新增「團隊協作」功能，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讓多個使用者可以共享同一個工作區。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7680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651760"/>
            <a:ext cx="1097280" cy="32004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撰寫這個功能的 PRD（Product Requirements Document），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包含：User Stories、Acceptance Criteria、技術限制。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7680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023360"/>
            <a:ext cx="1097280" cy="320040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Markdown 格式、每個 User Story 必須有 AC、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優先級用 MoSCoW 分類、附上 Mermaid 流程圖。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實作範例：用 Claude 撰寫 API 規格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1097280" cy="32004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上述團隊協作功能的後端 API，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技術棧：Express + TypeScript + Prisma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680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468880"/>
            <a:ext cx="1097280" cy="32004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 /api/teams 路由群組撰寫 OpenAPI 3.0 規格，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包含：CRUD、邀請成員、角色權限。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7680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657600"/>
            <a:ext cx="1097280" cy="320040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0690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RESTful 命名、分頁用 cursor-based、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response 統一格式、附 request/response 範例。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實作範例：用 Claude 設計資料庫 Schema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1097280" cy="32004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團隊協作功能需要的資料模型，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 Prisma ORM + PostgreSQL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377440"/>
            <a:ext cx="1097280" cy="32004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 Team、TeamMember、Invitation 三個 model 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Prisma schema，包含關聯、索引、enum。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7680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474720"/>
            <a:ext cx="1097280" cy="320040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8862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支援軟刪除（deletedAt）、audit trail（createdAt/updatedAt）、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TeamMember 角色用 enum（OWNER/ADMIN/MEMBER）。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進階：Anthropic 10 步提示框架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F5DDD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角色設定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01952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F5DDD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0195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019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背景說明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15184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F5DDD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1518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6151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任務定義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328416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F5DDD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2841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284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範例注入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41648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F5DDD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4164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0416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負面樣本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DC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1887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11887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輸出格式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901952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DC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90195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19019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約束條件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2615184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DC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1518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26151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程式風格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3328416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DC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32841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0" y="33284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輸出校驗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4041648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DC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04164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40416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迭代優化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先把三步框架做扎實，再考慮進階技巧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核心要點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24688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 → 任務 → 規則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三步框架搭配 SDD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Claude 成為你的開發夥伴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結構化提示 × Spec-Driven = 精準產出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977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選對模型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你一直在用錯模型</a:t>
            </a:r>
            <a:endParaRPr lang="en-US" sz="3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最普遍的錯誤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280160"/>
          </a:xfrm>
          <a:prstGeom prst="roundRect">
            <a:avLst>
              <a:gd name="adj" fmla="val 7143"/>
            </a:avLst>
          </a:prstGeom>
          <a:solidFill>
            <a:srgbClr val="FCE8E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25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永遠用同一個模型處理所有開發任務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Opus 寫 Hello World = 用挖土機種盆栽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926080"/>
            <a:ext cx="2560320" cy="73152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日常開發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9260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926080"/>
            <a:ext cx="256032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架構設計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29260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926080"/>
            <a:ext cx="2560320" cy="73152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5216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85216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快速查詢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4.6 — 你的主力開發夥伴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73152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4.6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A9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 的開發任務都應該用它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2377440"/>
            <a:ext cx="6858000" cy="9144"/>
          </a:xfrm>
          <a:prstGeom prst="rect">
            <a:avLst/>
          </a:prstGeom>
          <a:solidFill>
            <a:srgbClr val="E8E6D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6032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514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快速、精準、高 CP 值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632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017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寫程式、Code Review、改 bug、撰寫文件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616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520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腦力激盪、方案比較、API 設計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690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0233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不知道該用哪個？先用 Sonnet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開發場景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087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184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撰寫程式碼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元件、API handler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15087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6184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521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找 bug、效能問題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安全漏洞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0175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33375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447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撰寫文件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JSDoc、README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文件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46320" y="30175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20640" y="33375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3447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重構程式碼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8521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改善結構、命名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效能優化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實作：Code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1097280" cy="32004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範例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背景：Next.js 14 + TypeScript 的 SaaS 平台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任務：Review 這段 subscription.service.ts，找出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潛在的 bug、效能問題、安全隱憂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規則：每個問題附上修正建議和嚴重等級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（Critical / Warning / Info）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7680960" cy="1280160"/>
          </a:xfrm>
          <a:prstGeom prst="roundRect">
            <a:avLst>
              <a:gd name="adj" fmla="val 7143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657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會在幾秒內回傳：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Race condition 風險  ✓ N+1 查詢問題  ✓ 未處理的 null case  ✓ 每項附修正程式碼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4.6 — 深度推理引擎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留給真正需要「想清楚」的任務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2377440"/>
            <a:ext cx="6858000" cy="9144"/>
          </a:xfrm>
          <a:prstGeom prst="rect">
            <a:avLst/>
          </a:prstGeom>
          <a:solidFill>
            <a:srgbClr val="E8E6D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6032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514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目前最強的推理模型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632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017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系統架構設計、技術選型決策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616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520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複雜的 debug（跨模組、非同步問題）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690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0233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代價：較慢、更消耗額度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獨有：Extended Thinking（擴展思考）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291840"/>
          </a:xfrm>
          <a:prstGeom prst="roundRect">
            <a:avLst>
              <a:gd name="adj" fmla="val 2778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0" y="1371600"/>
            <a:ext cx="822960" cy="82296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5361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會先展現完整推理過程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再給出最終方案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329184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291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分析需求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94560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14600" y="329184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14600" y="3291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評估方案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51960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0" y="329184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0" y="3291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權衡取捨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09360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29400" y="329184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D9775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29400" y="3291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輸出架構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你可以看到它怎麼一步步推理，哪裡有不確定性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開發場景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0876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184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系統架構設計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微服務拆分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資料流規劃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150876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6184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資料庫設計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521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正規化、索引策略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效能最佳化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0175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333756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447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安全架構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認證/授權設計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資安評估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46320" y="30175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20640" y="333756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3447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技術選型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8521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框架比較、Trade-off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長期維護性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實作：系統架構設計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1097280" cy="32004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範例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背景：電商平台日活 5 萬，目前是 monolith，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準備拆分為微服務架構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任務：設計訂單系統的微服務架構，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包含服務邊界、通訊方式、資料一致性策略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規則：考慮 CAP theorem、用 Mermaid 畫架構圖、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列出每個決策的 trade-off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8404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Opus + Extended Thinking 會展示完整推理鏈：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事件驅動 vs 同步呼叫 → Saga pattern vs 2PC → 最終一致性方案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4.5 — 閃電般的輕量選手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73152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4.5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最快、最便宜，免費方案也可用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2377440"/>
            <a:ext cx="6858000" cy="9144"/>
          </a:xfrm>
          <a:prstGeom prst="rect">
            <a:avLst/>
          </a:prstGeom>
          <a:solidFill>
            <a:srgbClr val="E8E6D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6032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514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語法查詢、API 用法確認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632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017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簡單的程式碼轉換、格式化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616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520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指令、終端機操作查詢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690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0233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Chrome 擴充功能最佳搭檔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開發場景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DE8D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0876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184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語法查詢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 型別語法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Prisma 查詢寫法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DE8D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150876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6184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指令查詢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521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指令、Git 操作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終端機快捷鍵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0175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DE8D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333756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447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格式轉換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↔ TypeScript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↔ Prisma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46320" y="30175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DE8D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20640" y="333756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3447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搭配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8521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閱讀技術文件時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即時提問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選模型的唯一原則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1188720"/>
          </a:xfrm>
          <a:prstGeom prst="roundRect">
            <a:avLst>
              <a:gd name="adj" fmla="val 7692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371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用任務難度匹配模型能力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788C5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簡單查詢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26080" y="27432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日常開發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3246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766560" y="2743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架構決策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三大模型比較一覽</a:t>
            </a:r>
            <a:endParaRPr lang="en-US" sz="2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71816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特性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Haiku 4.5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Sonnet 4.6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Opus 4.6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速度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極快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快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較慢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推理深度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基礎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優秀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頂尖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價格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最低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中等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最高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開發用途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查詢/轉換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寫碼/Review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架構/決策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SDD 階段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查文件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寫規格/實作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設計/分析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使用占比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80%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15%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開發工作流：何時用哪個模型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6858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查 TypeScript 語法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53312"/>
            <a:ext cx="914400" cy="347472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3533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6858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撰寫 API 規格（SDD）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221992"/>
            <a:ext cx="914400" cy="347472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221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926080"/>
            <a:ext cx="54864" cy="6858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26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實作 Route Handler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3090672"/>
            <a:ext cx="914400" cy="347472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30906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794760"/>
            <a:ext cx="54864" cy="6858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3959352"/>
            <a:ext cx="914400" cy="347472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9593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18872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188720"/>
            <a:ext cx="54864" cy="6858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設計微服務架構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06640" y="1353312"/>
            <a:ext cx="914400" cy="347472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13533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05740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057400"/>
            <a:ext cx="54864" cy="6858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技術選型分析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06640" y="2221992"/>
            <a:ext cx="914400" cy="347472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2221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92608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926080"/>
            <a:ext cx="54864" cy="6858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926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查 Docker 指令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06640" y="3090672"/>
            <a:ext cx="914400" cy="347472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38" name="Text 36"/>
          <p:cNvSpPr/>
          <p:nvPr/>
        </p:nvSpPr>
        <p:spPr>
          <a:xfrm>
            <a:off x="7406640" y="30906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379476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794760"/>
            <a:ext cx="54864" cy="6858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撰寫測試案例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06640" y="3959352"/>
            <a:ext cx="914400" cy="347472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39593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實作：撰寫測試案例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1097280" cy="32004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範例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背景：訂閱管理系統，使用 Vitest + Prisma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任務：為 createSubscription() 撰寫完整測試案例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規則：包含 happy path、邊界條件、錯誤處理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使用 AAA pattern（Arrange-Act-Assert）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Mock 外部服務（金流 API）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7680960" cy="1280160"/>
          </a:xfrm>
          <a:prstGeom prst="roundRect">
            <a:avLst>
              <a:gd name="adj" fmla="val 7143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657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產出的測試涵蓋：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正常建立訂閱  ✓ Plan 不存在  ✓ 使用者已有訂閱  ✓ 金流失敗回滾  ✓ 並發建立防護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核心要點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24688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不要什麼都上 Opus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日常開發用 Sonnet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架構決策才用 Opus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Haiku 查語法 → Sonnet 寫程式 → Opus 做決策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977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四大隱藏功能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絕大多數開發者從沒用過</a:t>
            </a:r>
            <a:endParaRPr lang="en-US" sz="3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你不知道的四大功能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一次設定，永久生效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7772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57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技術選型的最佳幫手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017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Skills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重複工作一鍵觸發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977640"/>
            <a:ext cx="54864" cy="7772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776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擴充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4592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閱讀技術文件的好夥伴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Projects — 一次設定，永久生效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3350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再也不用每次重新交代專案背景和技術棧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94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上傳 tsconfig.json、.eslintrc、PRD 等專案檔案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432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697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此 Project 內任何對話都共享同一份上下文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4612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200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每次都已經「知道」你的技術棧和規範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4904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3703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從每次重頭交代 → 真正的持續開發協作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 Projects 的痛點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474720"/>
          </a:xfrm>
          <a:prstGeom prst="roundRect">
            <a:avLst>
              <a:gd name="adj" fmla="val 2632"/>
            </a:avLst>
          </a:prstGeom>
          <a:solidFill>
            <a:srgbClr val="FCE8E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每次開新對話都要重複交代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0116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「我們用 Next.js 14 + TypeScript + Prisma…」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743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「專案是 B2B SaaS 訂閱管理平台…」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47472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474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「程式風格是 functional、用 Zod 驗證…」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浪費 token、浪費時間、Claude 每次都像新人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設定流程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51560" y="13716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 Claude 中新增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開發專案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上傳規格文件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PRD、API Spec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tsconfig、.eslintrc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40680" y="13716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設定系統指令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技術棧、程式風格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團隊慣例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35240" y="137160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開始開發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所有對話共享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專案上下文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657600"/>
            <a:ext cx="7315200" cy="1097280"/>
          </a:xfrm>
          <a:prstGeom prst="roundRect">
            <a:avLst>
              <a:gd name="adj" fmla="val 8333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37490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建議上傳的檔案：PRD、OpenAPI spec、Prisma schema、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tsconfig.json、.eslintrc.js、CONTRIBUTING.md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範例：SaaS 訂閱管理平台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內容設定：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PRD.md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34440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產品需求文件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46320" y="155448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642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api-spec.yaml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349240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OpenAPI 3.0 規格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21945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0428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schema.prisma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234440" y="2450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資料庫 Schema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846320" y="21945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30428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tsconfig.json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49240" y="2450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 設定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31520" y="283464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4436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.eslintrc.js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234440" y="3090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Linting 規則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846320" y="283464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94436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9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CONVENTIONS.md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349240" y="3090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團隊開發慣例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731520" y="3566160"/>
            <a:ext cx="7680960" cy="1188720"/>
          </a:xfrm>
          <a:prstGeom prst="roundRect">
            <a:avLst>
              <a:gd name="adj" fmla="val 7692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1097280" y="3657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設定完成後，對話時只需要說：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1097280" y="402336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「為 /api/subscriptions/cancel 撰寫 Route Handler」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已經知道你的技術棧、規範、Schema —— 直接產出可用程式碼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Research Mode — 技術選型的最佳幫手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0" cy="73152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3350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不是搜尋，是真正的深度技術研究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94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拆解你的問題、搜尋數十個來源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432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697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交叉比對資訊、辨識矛盾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4612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200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產出完整的、帶引用的技術報告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4904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3703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耗時 5 ~ 45 分鐘（依問題複雜度）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 工作流程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提出問題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3716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拆解子題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13716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多源搜尋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94960" y="13716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交叉比對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0" y="13716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D9775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生成報告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377440"/>
            <a:ext cx="7680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2514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開發者的 Research Mode 應用：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9260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框架比較：Next.js vs Nuxt vs SvelteKit — 哪個適合我的專案？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資料庫選型：PostgreSQL vs MySQL vs MongoDB — 效能與維護性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部署方案：Vercel vs AWS vs GCP — 成本與擴展性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套件評估：某個 npm 套件的穩定性、維護狀態、替代方案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 範例：ORM 選型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1097280" cy="32004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我們的 Next.js SaaS 平台需要選擇 ORM。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請深入比較 Prisma、Drizzle、TypeORM，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考量：Type Safety、效能、學習曲線、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社群活躍度、Edge Runtime 支援。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7680960" cy="1645920"/>
          </a:xfrm>
          <a:prstGeom prst="roundRect">
            <a:avLst>
              <a:gd name="adj" fmla="val 5556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200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 產出（約 15 分鐘）：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三者的詳細比較表（含 benchmark 數據）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各自的優劣與適用情境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社群趨勢分析（GitHub stars、npm downloads）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針對你的專案的推薦 + 理由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 開發場景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087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184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架構研究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微服務 vs Monolith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事件驅動 vs 同步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15087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6184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框架選型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521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前端/後端框架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比較與推薦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0175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33375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447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安全研究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認證方案比較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資安最佳實踐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46320" y="30175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20640" y="33375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3447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效能評估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8521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分析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瓶頸辨識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Claude Skills — 把重複工作變成一鍵觸發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0" cy="731520"/>
          </a:xfrm>
          <a:prstGeom prst="ellipse">
            <a:avLst/>
          </a:prstGeom>
          <a:solidFill>
            <a:srgbClr val="788C5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3350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每天重複做同一類開發任務？效率質變的關鍵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94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 Code Review 流程、測試生成規則整理成 Skill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432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697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之後只說「使用我的 Code Review Skill」即可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4612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200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會引導你建立 Skill —— 不需要自己寫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4904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3703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位置：主頁 → Customize → Skills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範例：Code Review Skill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CE8E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 Skills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每次 Review 都要重新說：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檢查哪些面向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嚴重等級怎麼分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輸出格式是什麼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要不要附修正建議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......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E8F5E8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 Skills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「使用我的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Review Skill」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一句話完成：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安全性、效能、可讀性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Critical/Warning/Info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附修正程式碼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範例：PR Description Skill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474720"/>
          </a:xfrm>
          <a:prstGeom prst="roundRect">
            <a:avLst>
              <a:gd name="adj" fmla="val 2632"/>
            </a:avLst>
          </a:prstGeom>
          <a:solidFill>
            <a:srgbClr val="DDE8D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自動生成規範化的 PR Description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自動分析 diff，產出結構化摘要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603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514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包含：變更類型、影響範圍、測試說明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10896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符合團隊的 PR template 格式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5760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5448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附上 reviewer 需要特別注意的地方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097280" y="4114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觸發方式：「使用我的 PR Description Skill，這是 diff…」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如何建立你的第一個 Skill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1887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告訴 Claude「幫我為 Code Review 建立一個 Skill」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21031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會詢問你的 Review 標準和輸出格式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自動生成 Skill，儲存在主頁 → Customize → Skills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9319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以後只需一句話觸發，自動按照你的標準執行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Claude in Chrome — 閱讀技術文件的好夥伴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0" cy="73152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3350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大多數人不知道它的存在，但它改變了開發體驗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94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Chrome 擴充功能，常駐在瀏覽器中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432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697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閱讀 MDN、GitHub、Stack Overflow 時直接提問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4612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200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不需要來回切分頁、不需要複製貼上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4904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3703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搭配 Haiku 使用，速度極快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擴充開發場景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087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184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閱讀文件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MDN、框架文件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快速摘要重點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15087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6184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協助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521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理解 PR、Issue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分析 codebase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0175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33375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447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Overflow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看不懂的回答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即時解釋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46320" y="301752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CE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20640" y="33375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3447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文件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85216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第三方 API 文件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快速生成型別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擴充範例：閱讀框架文件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情境：閱讀 Next.js App Router 文件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DCE8F0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920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「這個 Server Component 和 Client Component 的差異是什麼？」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51460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「幫我用一個實際範例解釋 Parallel Routes」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10896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DC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1089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「這段 middleware 的用法，幫我改寫成我的專案可用的版本」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70332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「比較 generateStaticParams 和 getStaticPaths 的差異」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297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A9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搭配 Haiku → 即時回應，幾乎零等待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核心要點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24688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= 永久上下文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= 深度研究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= 一鍵觸發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= 無縫融入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把基礎用順了之後，慢慢解鎖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977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進階開發工具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· Cowork · SDD 流程</a:t>
            </a:r>
            <a:endParaRPr lang="en-US" sz="3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目前最強的 AI 程式開發工具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0" cy="731520"/>
          </a:xfrm>
          <a:prstGeom prst="ellipse">
            <a:avLst/>
          </a:prstGeom>
          <a:solidFill>
            <a:srgbClr val="788C5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3350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如果你是工程師，現在就該開始用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94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在終端機直接操作你的 codebase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432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697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寫程式碼、除錯、重構、建立專案架構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4612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200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理解既有程式碼、找出潛在問題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4904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3703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不只是給建議，而是真的幫你改程式碼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× SDD 開發流程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撰寫規格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28016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規格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128016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生成程式碼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94960" y="128016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執行測試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0" y="128016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D9775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286000"/>
            <a:ext cx="7680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2423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可以直接操作你的 Git Repo：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28346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你撰寫 API 規格（OpenAPI / Markdown）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21868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Claude Code 根據規格自動生成實作程式碼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60273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自動建立對應的測試檔案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98678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執行測試、回報結果、自動修正失敗的測試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3708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產出 PR Description，準備 merge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範例：從規格到實作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1097280" cy="320040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終端機指令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claude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根據 api-spec.yaml 中 /api/teams 的規格，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實作所有 Route Handlers，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包含 Prisma query、Zod validation、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Error handling，並建立對應的測試檔案。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7680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3832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自動完成：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建立 app/api/teams/route.ts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建立 app/api/teams/[teamId]/route.ts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建立 __tests__/api/teams.test.ts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執行測試、全部通過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— 桌面端最強大的自動化引擎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3350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只在下載版 Claude 桌面應用中可用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94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存取你的本機檔案系統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432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697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在背景自主執行任務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4612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200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支援排程任務（定時執行）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4904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3703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可安裝「外掛角色」（Plug-ins）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vs Plug-in — 概念區分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DDE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一個可重複的單項任務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例如：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Code Review 流程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PR Description 生成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測試案例撰寫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5DDD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多個 Skills 打包成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一個完整的「虛擬崗位」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例如：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DevOps Engineer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QA Engineer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Tech Writer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Plug-in 範例：QA Engineer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 QA Engineer Plug-in 後：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熟悉你的測試框架和命名慣例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231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377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自動分析程式碼變更，產出測試計畫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92608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8803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生成單元測試、整合測試、E2E 測試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2900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3832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檢查測試覆蓋率，找出遺漏的邊界條件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097280" y="4114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 已推出 10+ 現成 Plug-in，可直接使用或自訂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完整流程：Spec → Implement → Test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1234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188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1234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Schema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234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3560" y="1234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1188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95160" y="1234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0" y="1188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D9775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21031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103120"/>
            <a:ext cx="54864" cy="7772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規格階段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+ Research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21031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需求分析 → PRD → API Spec → Schema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30175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實作階段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+ Claude Code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0" y="30175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根據規格自動生成程式碼 + 測試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39319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3931920"/>
            <a:ext cx="54864" cy="7772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驗證階段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+ Skills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60320" y="3931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Review → 測試 → PR → Deploy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範例：訂閱 API 開發流程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657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撰寫 PRD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490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Opus 分析需求，產出 User Stories + AC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657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設計 API Spec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Sonnet 撰寫 OpenAPI 3.0 規格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3657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設計 DB Schema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227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Sonnet 設計 Prisma schema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3657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Review 規格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096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Opus Extended Thinking 審查一致性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143000"/>
            <a:ext cx="3657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生成程式碼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1490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Claude Code 從規格自動生成實作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011680"/>
            <a:ext cx="3657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撰寫測試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Sonnet 生成完整測試案例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3657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Code Review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3227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Skills 執行標準化 Review 流程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3657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部署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096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確認 CI/CD 通過，merge &amp; deploy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範例：前端元件開發流程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32588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元件規格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定義 Props interface、狀態管理、事件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1887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32588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UI 規格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描述 RWD 行為、動畫、互動回饋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132588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生成元件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產出 React + TypeScript 程式碼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508760" y="32461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Storybook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自動建立 Story 檔案，包含各種變體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31089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32461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56616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測試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生成 React Testing Library 測試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1089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69480" y="32461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4652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Review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Skills 做可及性 + 效能檢查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範例：測試策略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05840"/>
          </a:xfrm>
          <a:prstGeom prst="roundRect">
            <a:avLst>
              <a:gd name="adj" fmla="val 7273"/>
            </a:avLst>
          </a:prstGeom>
          <a:solidFill>
            <a:srgbClr val="788C5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單元測試（70%）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Vitest — 個別函式、utils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65960" y="242316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6A9BCC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2514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整合測試（20%）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2926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Vitest + Prisma — API + DB 整合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36576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測試（10%）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Playwright — 完整使用者流程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可以根據規格自動產出每一層的測試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核心要點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24688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+ Claude Code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從規格到部署的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全自動開發流程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先寫規格，再讓 Claude 幫你實作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977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上下文管理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與開發者最佳實踐</a:t>
            </a:r>
            <a:endParaRPr lang="en-US" sz="3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對話越長，輸出品質越可能下降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CE8E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258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所有大型語言模型的共同特性：上下文視窗有上限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 1：Compact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告訴 Claude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「compact 這段對話」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壓縮歷史上下文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再開新聊天繼續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4688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 2：限制條件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「只回傳修改的部分」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「用 diff 格式呈現」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「程式碼不要超過 50 行」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幫助 Claude 聚焦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開發者的 Claude 最佳實踐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7043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97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為每個專案建立 Project，上傳規格文件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1051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737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先寫規格再寫程式碼 —— SDD 流程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450592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2377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用任務難度匹配模型：Haiku / Sonnet / Opus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090672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1600" y="3017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常用流程建成 Skills（Review、Testing、PR）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730752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71600" y="3657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Claude Code 直接操作 codebase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370832"/>
            <a:ext cx="320040" cy="3200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7160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技術選型用 Research Mode 做深度比較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開發者的 Claude 工作流總覽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438912"/>
          </a:xfrm>
          <a:prstGeom prst="roundRect">
            <a:avLst>
              <a:gd name="adj" fmla="val 8333"/>
            </a:avLst>
          </a:prstGeom>
          <a:solidFill>
            <a:srgbClr val="F5DDD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115568"/>
            <a:ext cx="914400" cy="310896"/>
          </a:xfrm>
          <a:prstGeom prst="roundRect">
            <a:avLst/>
          </a:prstGeom>
          <a:solidFill>
            <a:srgbClr val="141413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1155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10515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Research Mode 做市場/技術研究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7680960" cy="438912"/>
          </a:xfrm>
          <a:prstGeom prst="roundRect">
            <a:avLst>
              <a:gd name="adj" fmla="val 8333"/>
            </a:avLst>
          </a:prstGeom>
          <a:solidFill>
            <a:srgbClr val="DCE8F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00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撰寫規格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1664208"/>
            <a:ext cx="914400" cy="310896"/>
          </a:xfrm>
          <a:prstGeom prst="roundRect">
            <a:avLst/>
          </a:prstGeom>
          <a:solidFill>
            <a:srgbClr val="141413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6002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PRD → API Spec → DB Schema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148840"/>
            <a:ext cx="7680960" cy="438912"/>
          </a:xfrm>
          <a:prstGeom prst="roundRect">
            <a:avLst>
              <a:gd name="adj" fmla="val 8333"/>
            </a:avLst>
          </a:prstGeom>
          <a:solidFill>
            <a:srgbClr val="F5DDD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1488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規格審查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2212848"/>
            <a:ext cx="914400" cy="310896"/>
          </a:xfrm>
          <a:prstGeom prst="roundRect">
            <a:avLst/>
          </a:prstGeom>
          <a:solidFill>
            <a:srgbClr val="141413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22128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14884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Extended Thinking 做一致性檢查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697480"/>
            <a:ext cx="7680960" cy="438912"/>
          </a:xfrm>
          <a:prstGeom prst="roundRect">
            <a:avLst>
              <a:gd name="adj" fmla="val 8333"/>
            </a:avLst>
          </a:prstGeom>
          <a:solidFill>
            <a:srgbClr val="DC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6974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程式實作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77440" y="2761488"/>
            <a:ext cx="914400" cy="310896"/>
          </a:xfrm>
          <a:prstGeom prst="roundRect">
            <a:avLst/>
          </a:prstGeom>
          <a:solidFill>
            <a:srgbClr val="141413"/>
          </a:solidFill>
          <a:ln/>
        </p:spPr>
      </p:sp>
      <p:sp>
        <p:nvSpPr>
          <p:cNvPr id="22" name="Text 20"/>
          <p:cNvSpPr/>
          <p:nvPr/>
        </p:nvSpPr>
        <p:spPr>
          <a:xfrm>
            <a:off x="2377440" y="27614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26974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從規格生成程式碼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246120"/>
            <a:ext cx="7680960" cy="438912"/>
          </a:xfrm>
          <a:prstGeom prst="roundRect">
            <a:avLst>
              <a:gd name="adj" fmla="val 8333"/>
            </a:avLst>
          </a:prstGeom>
          <a:solidFill>
            <a:srgbClr val="F5DDD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246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撰寫測試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3310128"/>
            <a:ext cx="914400" cy="310896"/>
          </a:xfrm>
          <a:prstGeom prst="roundRect">
            <a:avLst/>
          </a:prstGeom>
          <a:solidFill>
            <a:srgbClr val="141413"/>
          </a:solidFill>
          <a:ln/>
        </p:spPr>
      </p:sp>
      <p:sp>
        <p:nvSpPr>
          <p:cNvPr id="27" name="Text 25"/>
          <p:cNvSpPr/>
          <p:nvPr/>
        </p:nvSpPr>
        <p:spPr>
          <a:xfrm>
            <a:off x="2377440" y="33101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324612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根據規格生成測試案例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3794760"/>
            <a:ext cx="7680960" cy="438912"/>
          </a:xfrm>
          <a:prstGeom prst="roundRect">
            <a:avLst>
              <a:gd name="adj" fmla="val 8333"/>
            </a:avLst>
          </a:prstGeom>
          <a:solidFill>
            <a:srgbClr val="DC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794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77440" y="3858768"/>
            <a:ext cx="914400" cy="310896"/>
          </a:xfrm>
          <a:prstGeom prst="roundRect">
            <a:avLst/>
          </a:prstGeom>
          <a:solidFill>
            <a:srgbClr val="141413"/>
          </a:solidFill>
          <a:ln/>
        </p:spPr>
      </p:sp>
      <p:sp>
        <p:nvSpPr>
          <p:cNvPr id="32" name="Text 30"/>
          <p:cNvSpPr/>
          <p:nvPr/>
        </p:nvSpPr>
        <p:spPr>
          <a:xfrm>
            <a:off x="2377440" y="38587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0" y="37947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Review Skill 做標準化審查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" y="4343400"/>
            <a:ext cx="7680960" cy="438912"/>
          </a:xfrm>
          <a:prstGeom prst="roundRect">
            <a:avLst>
              <a:gd name="adj" fmla="val 8333"/>
            </a:avLst>
          </a:prstGeom>
          <a:solidFill>
            <a:srgbClr val="F5DDD0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3434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查閱文件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77440" y="4407408"/>
            <a:ext cx="914400" cy="310896"/>
          </a:xfrm>
          <a:prstGeom prst="roundRect">
            <a:avLst/>
          </a:prstGeom>
          <a:solidFill>
            <a:srgbClr val="141413"/>
          </a:solidFill>
          <a:ln/>
        </p:spPr>
      </p:sp>
      <p:sp>
        <p:nvSpPr>
          <p:cNvPr id="37" name="Text 35"/>
          <p:cNvSpPr/>
          <p:nvPr/>
        </p:nvSpPr>
        <p:spPr>
          <a:xfrm>
            <a:off x="2377440" y="44074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74720" y="43434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Chrome 擴充即時查詢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× Git 工作流程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325880"/>
            <a:ext cx="1097280" cy="365760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325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feature/xxx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 feature branch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1887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60520" y="132588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1325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撰寫功能規格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1325880"/>
            <a:ext cx="1097280" cy="36576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325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生成程式碼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80160" y="3246120"/>
            <a:ext cx="1097280" cy="365760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自動生成 + 執行測試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31089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60520" y="3246120"/>
            <a:ext cx="109728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做 Code Review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0" y="3246120"/>
            <a:ext cx="1097280" cy="36576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Description + Merge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常用 Prompt 範本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28016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097280"/>
            <a:ext cx="6217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1430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這段 [file]，找出 bug、效能、安全問題，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每項附嚴重等級和修正建議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28016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設計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2057400"/>
            <a:ext cx="6217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210312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 [feature] 撰寫 RESTful API 規格，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包含 endpoint、request/response、error format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28016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測試撰寫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3017520"/>
            <a:ext cx="6217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0" y="30632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 [function] 撰寫測試，包含 happy path、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邊界條件、錯誤處理，用 AAA pattern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1280160" cy="3657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3977640"/>
            <a:ext cx="6217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377440" y="402336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重構 [file]，目標：提高可讀性、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消除重複、改善效能，保持功能不變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核心要點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24688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先寫規格，再寫程式碼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為專案建立 Project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常用流程變成 Skills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SDD + Claude = 你的超級開發夥伴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977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五件事讓你用對 Claude</a:t>
            </a:r>
            <a:endParaRPr lang="en-US" sz="3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從今天開始，做好五件事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097280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033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提示詞寫清楚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3533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 → 任務 → 規則，每次都用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01368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1892808"/>
            <a:ext cx="475488" cy="475488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模型選對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1488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Haiku 查語法、Sonnet 寫程式、Opus 做決策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596896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2688336"/>
            <a:ext cx="475488" cy="475488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2624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設定好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29443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上傳規格文件，告別每次重頭交代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392424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3483864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483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34198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流程導入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3739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先寫規格再寫程式碼，讓 Claude 從規格生成實作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187952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" y="4279392"/>
            <a:ext cx="475488" cy="475488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279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5920" y="42153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Skills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45920" y="45354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Review、Testing、PR — 一鍵觸發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+ Claude 的威力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3474720"/>
          </a:xfrm>
          <a:prstGeom prst="roundRect">
            <a:avLst>
              <a:gd name="adj" fmla="val 2632"/>
            </a:avLst>
          </a:prstGeom>
          <a:solidFill>
            <a:srgbClr val="F5DDD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031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57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規格即文件 — 不需要額外寫文件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060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560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規格即合約 — 前後端可以平行開發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10896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8800" y="3063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規格即指令 — Claude 根據規格自動生成程式碼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1188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28800" y="35661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規格即測試 — 從規格直接產出測試案例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11480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828800" y="4069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規格即 Review — 以規格為標準做 Code Review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推薦學習路徑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371600" cy="594360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097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學會三步框架，每次開發前都用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371600" cy="594360"/>
          </a:xfrm>
          <a:prstGeom prst="roundRect">
            <a:avLst/>
          </a:prstGeom>
          <a:solidFill>
            <a:srgbClr val="6A9BC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18745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 Project，上傳專案規格文件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1371600" cy="5943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26517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開始用 SDD 流程：先寫規格再寫程式碼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371600" cy="594360"/>
          </a:xfrm>
          <a:prstGeom prst="roundRect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34290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 3 個常用 Skills（Review/Test/PR）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1371600" cy="594360"/>
          </a:xfrm>
          <a:prstGeom prst="roundRect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06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77440" y="42062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安裝 Claude Code + 嘗試 Cowork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400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變強不是最近的事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是你一直沒有用對它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0" y="3200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First, Code Later.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現在開始，還不晚。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2881</Words>
  <Application>Microsoft Office PowerPoint</Application>
  <PresentationFormat>如螢幕大小 (16:9)</PresentationFormat>
  <Paragraphs>906</Paragraphs>
  <Slides>80</Slides>
  <Notes>80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80</vt:i4>
      </vt:variant>
    </vt:vector>
  </HeadingPairs>
  <TitlesOfParts>
    <vt:vector size="83" baseType="lpstr">
      <vt:lpstr>Arial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× Spec-Driven Development 完全指南</dc:title>
  <dc:subject>PptxGenJS Presentation</dc:subject>
  <dc:creator>Claude</dc:creator>
  <cp:lastModifiedBy>joshhu</cp:lastModifiedBy>
  <cp:revision>2</cp:revision>
  <dcterms:created xsi:type="dcterms:W3CDTF">2026-03-10T12:46:56Z</dcterms:created>
  <dcterms:modified xsi:type="dcterms:W3CDTF">2026-03-10T16:01:33Z</dcterms:modified>
</cp:coreProperties>
</file>