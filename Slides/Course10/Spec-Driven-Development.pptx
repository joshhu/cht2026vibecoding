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Driven Development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規格驅動開發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不再猜測需求，而是依照明確規格來寫程式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4206240"/>
            <a:ext cx="2286000" cy="2743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教學用投影片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前言：AI 寫程式的困境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893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Vibe Coding 的崛起與反思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什麼是 Spec Driven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SDD 的歷史脈絡與演進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768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為什麼需要 SDD：五大挑戰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SDD 解決問題的方式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35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核心原則（一）Agreement First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64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核心原則（二）Living Specs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93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核心原則（三）Intent-Driven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227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核心原則（四）Verifiable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核心原則（五）Iterative Refinement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960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SDD 的完整工作流程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2893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Phase 1～4 各階段詳解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6184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規格文件的組成結構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9476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Spec 撰寫指南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2768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與其他方法論的比較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6060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SDD 不是 Waterfall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935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OpenSpec 深入解析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264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Spec Kit 深入解析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593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兩大框架完整比較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9227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SDD 在 AI 開發中的定位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2519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適用場景與限制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寫程式的困境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 無所不在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82880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1828800" cy="54864"/>
          </a:xfrm>
          <a:prstGeom prst="rect">
            <a:avLst/>
          </a:prstGeom>
          <a:solidFill>
            <a:srgbClr val="2429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005840"/>
            <a:ext cx="182880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005840"/>
            <a:ext cx="1828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82880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18288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1005840"/>
            <a:ext cx="182880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005840"/>
            <a:ext cx="18288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年以來，AI Coding Assistant 已成為開發者的標準配備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開發者可以用自然語言直接「對話式寫程式」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804672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657600"/>
            <a:ext cx="73152" cy="1097280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但是，問題來了...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強大但不可預測。當需求只存在於聊天記錄中，一切都會失控。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開發的無限迴圈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234440" cy="100584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模糊的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169164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828800" y="1188720"/>
            <a:ext cx="1234440" cy="1005840"/>
          </a:xfrm>
          <a:prstGeom prst="rect">
            <a:avLst/>
          </a:prstGeom>
          <a:solidFill>
            <a:srgbClr val="E07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開始猜測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69164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291840" y="1188720"/>
            <a:ext cx="1234440" cy="1005840"/>
          </a:xfrm>
          <a:prstGeom prst="rect">
            <a:avLst/>
          </a:prstGeom>
          <a:solidFill>
            <a:srgbClr val="E07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產出不符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預期的 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69164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754880" y="1188720"/>
            <a:ext cx="1234440" cy="1005840"/>
          </a:xfrm>
          <a:prstGeom prst="rect">
            <a:avLst/>
          </a:prstGeom>
          <a:solidFill>
            <a:srgbClr val="BC47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來回修改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69164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217920" y="1188720"/>
            <a:ext cx="1234440" cy="1005840"/>
          </a:xfrm>
          <a:prstGeom prst="rect">
            <a:avLst/>
          </a:prstGeom>
          <a:solidFill>
            <a:srgbClr val="BC47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爆炸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169164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7680960" y="1188720"/>
            <a:ext cx="1234440" cy="1005840"/>
          </a:xfrm>
          <a:prstGeom prst="rect">
            <a:avLst/>
          </a:prstGeom>
          <a:solidFill>
            <a:srgbClr val="3C151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0" y="11887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品質失控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根本原因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3063240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需求模糊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34640" y="3017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「寫一個登入功能」包含太多未定義的細節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538728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4930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上下文遺失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34640" y="34930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聊天記錄中的決策會隨著對話消失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014216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" y="39684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假設不一致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834640" y="39684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開發者和 AI 對「完成」的定義不同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4489704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7280" y="44439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無法驗證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834640" y="44439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沒有明確標準可以判斷「做對了沒有」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崛起與反思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Vibe Coding？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Coding（氛圍式寫程式）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開發者直接用自然語言向 AI 描述想要的東西，AI 立即產生程式碼，開發者憑「感覺」決定接受或拒絕。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74904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94560"/>
            <a:ext cx="3749040" cy="54864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極快的啟動速度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低門檻，不需要寫文件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適合探索與嘗試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高即時滿足感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194560"/>
            <a:ext cx="374904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194560"/>
            <a:ext cx="3749040" cy="54864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2064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無法重現同樣的結果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無法規模化協作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35112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技術債快速累積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895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難以交接與維護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4279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品質完全不可控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Vibe Coding 到 SDD 的演進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37744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188720"/>
            <a:ext cx="2377440" cy="64008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🗣️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憑感覺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3657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657600" y="1188720"/>
            <a:ext cx="237744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1188720"/>
            <a:ext cx="2377440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📎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Context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附上下文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3657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583680" y="1188720"/>
            <a:ext cx="237744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1188720"/>
            <a:ext cx="2377440" cy="64008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Driven Dev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寫規格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474720"/>
            <a:ext cx="768096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474720"/>
            <a:ext cx="73152" cy="10972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566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適合探索，SDD 適合建設。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3977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兩者不是對立的，而是不同階段的工具。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Spec Driven Development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核心定義與概念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的定義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73152" cy="11887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在寫任何程式碼之前，先由人類與 AI 共同建立結構化的規格文件，再依據規格進行實作與驗證。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規格是開發流程的 First-class Citizen（第一級公民）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1371600" cy="914400"/>
          </a:xfrm>
          <a:prstGeom prst="ellipse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743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想法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3200400"/>
            <a:ext cx="18288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560320" y="2743200"/>
            <a:ext cx="1371600" cy="914400"/>
          </a:xfrm>
          <a:prstGeom prst="ellipse">
            <a:avLst/>
          </a:prstGeom>
          <a:solidFill>
            <a:srgbClr val="E07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2743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規格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77640" y="3200400"/>
            <a:ext cx="18288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389120" y="2743200"/>
            <a:ext cx="1371600" cy="914400"/>
          </a:xfrm>
          <a:prstGeom prst="ellipse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2743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實作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3200400"/>
            <a:ext cx="18288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6217920" y="2743200"/>
            <a:ext cx="1371600" cy="914400"/>
          </a:xfrm>
          <a:prstGeom prst="ellipse">
            <a:avLst/>
          </a:prstGeom>
          <a:solidFill>
            <a:srgbClr val="E07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743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驗證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35240" y="3200400"/>
            <a:ext cx="18288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8046720" y="2743200"/>
            <a:ext cx="1371600" cy="914400"/>
          </a:xfrm>
          <a:prstGeom prst="ellipse">
            <a:avLst/>
          </a:prstGeom>
          <a:solidFill>
            <a:srgbClr val="6A994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0" y="2743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交付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不符規格 → 回到規格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3749040"/>
            <a:ext cx="-3657600" cy="0"/>
          </a:xfrm>
          <a:prstGeom prst="line">
            <a:avLst/>
          </a:prstGeom>
          <a:noFill/>
          <a:ln w="19050">
            <a:solidFill>
              <a:srgbClr val="BC4749"/>
            </a:solidFill>
            <a:prstDash val="dash"/>
            <a:tailEnd type="arrow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「規格」到底是什麼？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SDD 中，規格不是一份 Word 或 PDF，而是一組結構化的 Markdown 文件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920240" cy="23774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34440" y="1645920"/>
            <a:ext cx="502920" cy="5029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功能規格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使用者故事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預期行為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邊界條件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1508760"/>
            <a:ext cx="1920240" cy="23774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64592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8892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技術規格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8036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設計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資料模型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效能需求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508760"/>
            <a:ext cx="1920240" cy="23774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1645920"/>
            <a:ext cx="502920" cy="50292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3776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介面規格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輸入輸出格式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錯誤處理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回應碼定義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95160" y="1508760"/>
            <a:ext cx="1920240" cy="23774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0" y="1645920"/>
            <a:ext cx="502920" cy="502920"/>
          </a:xfrm>
          <a:prstGeom prst="ellipse">
            <a:avLst/>
          </a:prstGeom>
          <a:solidFill>
            <a:srgbClr val="6A994E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8660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驗收標準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7804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測試案例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7804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通過條件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7804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品質指標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三個關鍵字：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28600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0040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結構化、可驗證的文件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7784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主動驅動流程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0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95528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包含設計、測試、驗證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vs 傳統開發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68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面向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傳統開發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Driven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需求來源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口頭溝通、聊天記錄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結構化規格文件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規格角色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臨時參考，可有可無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開發的核心驅動力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的行為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根據模糊提示猜測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依據明確規格精準執行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可追溯性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迭代方式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 code → 事後補文件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改規格 → 依規格改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驗證方式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人工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對照規格自動驗證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協作方式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口頭說明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規格 review + code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的歷史脈絡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API-First 到 Spec-First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規格驅動的演進歷程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7680960" cy="0"/>
          </a:xfrm>
          <a:prstGeom prst="line">
            <a:avLst/>
          </a:prstGeom>
          <a:noFill/>
          <a:ln w="38100">
            <a:solidFill>
              <a:srgbClr val="D5D0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331720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 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2331720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 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Design-by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函式合約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23317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 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/ BDD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活的規格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2331720"/>
            <a:ext cx="457200" cy="45720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2023～24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興起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Copilot, Claude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15400" y="2331720"/>
            <a:ext cx="457200" cy="457200"/>
          </a:xfrm>
          <a:prstGeom prst="ellipse">
            <a:avLst/>
          </a:prstGeom>
          <a:solidFill>
            <a:srgbClr val="6A994E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2025～26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框架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OpenSpec, Spec Kit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各方法論匯入 SDD 的 DNA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前身方法論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繼承了什麼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不同之處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API-First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規格先行的理念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不限於 API，涵蓋整個功能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TDD/BDD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先寫驗收標準再實作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規格範圍更廣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從領域模型出發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更強調人機對齊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迭代式、擁抱變更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加入規格的結構化管理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 SDD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時代的五大挑戰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輔助開發的五大挑戰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124712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078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需求漂移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3533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Drift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143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聊天記錄中的需求容易遺失或自相矛盾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8046720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1901952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1856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不可預測性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130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同樣的 Prompt 可能產出完全不同的結果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8046720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對齊落差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2907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Gap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人類與 AI 對「完成」的定義不一致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337560"/>
            <a:ext cx="8046720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456432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3410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爆炸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3685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Overflow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長對話後 AI 遺忘早期的需求決策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8046720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4233672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71600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規模化困難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71600" y="4462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Difficulty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4720" y="4251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沒有規格時多人協作容易失控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SDD vs 沒有 SDD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74904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749040" cy="54864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沒有 SDD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模糊的 Prompt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1920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</a:rPr>
              <a:t>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 開始猜測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23774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產出不符預期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834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</a:rPr>
              <a:t>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來回修改 n 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3291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</a:rPr>
              <a:t>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品質失控 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374904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005840"/>
            <a:ext cx="3749040" cy="54864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有 SDD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結構化的 Spec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1920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</a:rPr>
              <a:t>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 精準理解需求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3774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</a:rPr>
              <a:t>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產出符合規格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834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</a:rPr>
              <a:t>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依規格自動驗證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291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</a:rPr>
              <a:t>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品質可控 🎯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平均迭代次數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5176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5～10 次 → 1～3 次（↓ 70%）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709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需求遺漏率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5176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 → 5% 以下（↓ 80%）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案例：「幫我寫一個登入功能」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749040" cy="3749040"/>
          </a:xfrm>
          <a:prstGeom prst="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73152" cy="3749040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SDD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開發者：寫一個登入功能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AI：（用 session + 明文密碼）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3408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開發者：不對，要用 JWT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779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AI：（重寫，忘了 refresh token）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218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開發者：要有 refresh token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AI：（加了，但 CORS 壞了）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0965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開發者：......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3749040" cy="3749040"/>
          </a:xfrm>
          <a:prstGeom prst="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05840"/>
            <a:ext cx="73152" cy="374904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SDD：登入功能規格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功能需求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Email + 密碼登入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0" y="2157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密碼用 bcrypt（cost 12）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20640" y="2505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JWT access + refresh token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技術需求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 /api/v1/auth/login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20640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Rate limit: 10次/分/IP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20640" y="3895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驗收標準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20640" y="4242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正確帳密 → 200 + JWT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20640" y="4590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錯誤密碼 → 401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的五大核心原則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First · Living Specs · Intent-Driven · Verifiable · Iterative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68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五大核心原則總覽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124712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069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First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344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先對齊再動手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人類與 AI 先就規格達成共識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8046720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1901952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1847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Specs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121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規格是活的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可以隨時更新，不是一次定稿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8046720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2624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Intent-Driven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2898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意圖優先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先定義 What，再決定 How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337560"/>
            <a:ext cx="8046720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456432"/>
            <a:ext cx="411480" cy="411480"/>
          </a:xfrm>
          <a:prstGeom prst="ellipse">
            <a:avLst/>
          </a:prstGeom>
          <a:solidFill>
            <a:srgbClr val="6A994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3675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可驗證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每條規格都對應可驗證的標準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8046720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4233672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7160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71600" y="4453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漸進式精煉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從粗略到精細，多輪完善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原則一：Agreement First（先對齊再動手）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74904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749040" cy="54864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Agreement First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人類想的：A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理解的：B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產出的 code：C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≠ B ≠ C 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74904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05840"/>
            <a:ext cx="3749040" cy="54864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Agreement First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14630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人類寫下：A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確認：A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產出的 code：A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全部一致 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的三個層次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320040" cy="3200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目標對齊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為什麼做、做什麼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使用者需要自助重設密碼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320040" cy="3200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規格對齊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具體的功能與技術需求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一次性 token，30 分鐘有效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572000"/>
            <a:ext cx="320040" cy="3200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驗收對齊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怎樣才算做完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收到 email → 點連結 → 設新密碼 → 可登入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原則二：Living Specs（規格是活的）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初始規格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18288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834640" y="1097280"/>
            <a:ext cx="1828800" cy="914400"/>
          </a:xfrm>
          <a:prstGeom prst="rect">
            <a:avLst/>
          </a:prstGeom>
          <a:solidFill>
            <a:srgbClr val="E07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補充邊界條件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18288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937760" y="1097280"/>
            <a:ext cx="1828800" cy="914400"/>
          </a:xfrm>
          <a:prstGeom prst="rect">
            <a:avLst/>
          </a:prstGeom>
          <a:solidFill>
            <a:srgbClr val="E07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 API 設計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0" y="1554480"/>
            <a:ext cx="18288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7040880" y="1097280"/>
            <a:ext cx="1828800" cy="914400"/>
          </a:xfrm>
          <a:prstGeom prst="rect">
            <a:avLst/>
          </a:prstGeom>
          <a:solidFill>
            <a:srgbClr val="6A994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新增效能需求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Specs vs Dead Specs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Specs（死文件）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Specs（活文件）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更新頻率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寫完就不動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隨開發進程持續更新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與 code 的關係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逐漸脫節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始終保持同步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價值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遞減（越來越不準）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持續（始終是最新狀態）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使用方式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束之高閣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每次實作前必讀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原則三：Intent-Driven（意圖優先）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972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Why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0312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為什麼要做？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使用者忘記密碼時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沒有自助重設方式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人類主導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286000"/>
            <a:ext cx="7498080" cy="1005840"/>
          </a:xfrm>
          <a:prstGeom prst="rect">
            <a:avLst/>
          </a:prstGeom>
          <a:solidFill>
            <a:srgbClr val="E07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22860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What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要做什麼？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2697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email 寄送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重設連結的密碼重設流程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 + AI 共同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0" y="3474720"/>
            <a:ext cx="6766560" cy="1005840"/>
          </a:xfrm>
          <a:prstGeom prst="rect">
            <a:avLst/>
          </a:prstGeom>
          <a:solidFill>
            <a:srgbClr val="457B9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3474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How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83464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怎麼做？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一次性 token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有效期 30 分鐘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可主導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最需要的是清楚的 What。How 它往往可以自己決定。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原則四：Verifiable（可驗證）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74904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749040" cy="54864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不可驗證的規格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系統要快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56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介面要好用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03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程式碼要乾淨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51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要安全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374904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05840"/>
            <a:ext cx="3749040" cy="54864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可驗證的規格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回應 &lt; 200ms（P95）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856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登入不超過 3 步驟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203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測試覆蓋率 &gt; 80%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551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密碼使用 bcrypt 加密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可驗證規格的 SMART 原則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1536192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749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具體的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67712" y="3703320"/>
            <a:ext cx="1536192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67712" y="3749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267712" y="41605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67712" y="443484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可衡量的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86784" y="3703320"/>
            <a:ext cx="1536192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986784" y="3749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986784" y="41605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86784" y="443484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可達成的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05856" y="3703320"/>
            <a:ext cx="1536192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05856" y="3749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705856" y="41605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05856" y="443484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相關的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24928" y="3703320"/>
            <a:ext cx="1536192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24928" y="37490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424928" y="41605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24928" y="443484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可測試的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原則五：Iterative Refinement（漸進式精煉）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粗略需求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1828800"/>
            <a:ext cx="6858000" cy="640080"/>
          </a:xfrm>
          <a:prstGeom prst="rect">
            <a:avLst/>
          </a:prstGeom>
          <a:solidFill>
            <a:srgbClr val="E07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828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功能拆解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2606040"/>
            <a:ext cx="5486400" cy="640080"/>
          </a:xfrm>
          <a:prstGeom prst="rect">
            <a:avLst/>
          </a:prstGeom>
          <a:solidFill>
            <a:srgbClr val="E07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28800" y="2606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技術規格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14600" y="3383280"/>
            <a:ext cx="4114800" cy="640080"/>
          </a:xfrm>
          <a:prstGeom prst="rect">
            <a:avLst/>
          </a:prstGeom>
          <a:solidFill>
            <a:srgbClr val="6A994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3383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驗收標準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每一輪的重點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389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輪次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焦點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動機與目標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一段話描述需求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功能拆解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功能清單與範圍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技術細節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API、資料模型、效能需求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驗收標準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可勾選的 checklist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的完整工作流程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四大階段：Propose → Specify → Plan → Implement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四大階段總覽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965960" cy="320040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96596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探索與提案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提出想法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分析可行性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產生 Proposal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228600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2560320" y="1005840"/>
            <a:ext cx="1965960" cy="320040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1005840"/>
            <a:ext cx="1965960" cy="502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1005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1600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6032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規格定義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功能規格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技術規格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驗收標準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228600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754880" y="1005840"/>
            <a:ext cx="1965960" cy="320040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05840"/>
            <a:ext cx="1965960" cy="5029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05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54880" y="1600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5488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設計與規劃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架構設計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技術決策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任務拆解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228600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6949440" y="1005840"/>
            <a:ext cx="1965960" cy="320040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49440" y="1005840"/>
            <a:ext cx="1965960" cy="50292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1005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49440" y="1600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4944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實作與驗證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3232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逐步實作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逐一驗證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3232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歸檔交付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產出物：proposal.md → spec.md → design.md → tasks.md → Code → Tests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1：Propose（探索與提案）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目標：把模糊的想法轉化為結構化的提案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區塊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範例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功能名稱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密碼重設功能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為什麼需要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客服每天收到 50+ 筆重設請求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要達成什麼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使用者可以自助完成密碼重設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Non-Goals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明確排除的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不包含簡訊驗證、2FA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影響範圍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新增 2 個 API、1 個 email template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限制條件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必須相容現有 JWT 機制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114800"/>
            <a:ext cx="804672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114800"/>
            <a:ext cx="73152" cy="731520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Non-Goals 很重要！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明確寫出「不做什麼」，防止 AI 越做越多（scope creep）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2：Specify（規格定義）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目標：將提案展開為詳細、可驗證的規格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920240" cy="256032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1920240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功能規格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使用者故事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預期行為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779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邊界條件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錯誤處理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1417320"/>
            <a:ext cx="1920240" cy="256032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97480" y="1417320"/>
            <a:ext cx="192024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技術規格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端點設計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資料模型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2779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效能需求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安全性需求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417320"/>
            <a:ext cx="1920240" cy="256032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417320"/>
            <a:ext cx="1920240" cy="45720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介面規格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請求/回應格式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狀態碼定義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779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認證方式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版本控制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95160" y="1417320"/>
            <a:ext cx="1920240" cy="256032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95160" y="1417320"/>
            <a:ext cx="1920240" cy="45720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驗收標準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Happy Path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Edge Case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2779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效能基準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安全性檢查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功能規格 → 使用者能做什麼？   技術規格 → 底層怎麼實作？   介面規格 → 系統間怎麼溝通？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3：Plan（設計與規劃）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目標：將規格轉化為可執行的技術方案與任務清單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554480" cy="640080"/>
          </a:xfrm>
          <a:prstGeom prst="rect">
            <a:avLst/>
          </a:prstGeom>
          <a:solidFill>
            <a:srgbClr val="E07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規格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1783080"/>
            <a:ext cx="9144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103120" y="1463040"/>
            <a:ext cx="1554480" cy="64008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架構設計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03320" y="1783080"/>
            <a:ext cx="9144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3840480" y="1463040"/>
            <a:ext cx="1554480" cy="64008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元件拆解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40680" y="1783080"/>
            <a:ext cx="9144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5577840" y="1463040"/>
            <a:ext cx="1554480" cy="64008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依賴分析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78040" y="1783080"/>
            <a:ext cx="9144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315200" y="1463040"/>
            <a:ext cx="1554480" cy="640080"/>
          </a:xfrm>
          <a:prstGeom prst="rect">
            <a:avLst/>
          </a:prstGeom>
          <a:solidFill>
            <a:srgbClr val="6A994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任務清單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任務拆解的五大原則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2926080"/>
            <a:ext cx="274320" cy="2743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單一職責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每個任務只做一件事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337560"/>
            <a:ext cx="274320" cy="2743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可獨立驗證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完成後可以單獨測試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3749040"/>
            <a:ext cx="274320" cy="2743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明確完成條件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什麼情況下算「做完了」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160520"/>
            <a:ext cx="274320" cy="2743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515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合理的粒度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2608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2～4 小時為宜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" y="4572000"/>
            <a:ext cx="274320" cy="2743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5156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有序排列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92608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先基礎後上層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4：Implement &amp; Validate（實作與驗證）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目標：依照任務清單逐步實作，逐一驗證是否符合規格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16002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1600200" cy="54864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600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驗證失敗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2011680"/>
            <a:ext cx="9144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057400" y="1463040"/>
            <a:ext cx="16002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463040"/>
            <a:ext cx="16002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1600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分析根因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2011680"/>
            <a:ext cx="9144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3840480" y="1463040"/>
            <a:ext cx="16002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1463040"/>
            <a:ext cx="1600200" cy="54864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600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規格問題？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更新規格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2011680"/>
            <a:ext cx="9144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623560" y="1463040"/>
            <a:ext cx="16002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0" y="1463040"/>
            <a:ext cx="16002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1600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實作問題？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修正 code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9480" y="2011680"/>
            <a:ext cx="9144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7406640" y="1463040"/>
            <a:ext cx="16002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06640" y="1463040"/>
            <a:ext cx="16002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600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規格不夠？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補充細節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發現問題的成本曲線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1920240" cy="457200"/>
          </a:xfrm>
          <a:prstGeom prst="rect">
            <a:avLst/>
          </a:prstGeom>
          <a:solidFill>
            <a:srgbClr val="6A994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Spec 階段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97480" y="3840480"/>
            <a:ext cx="1920240" cy="77724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97480" y="3840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Design 階段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520440"/>
            <a:ext cx="1920240" cy="1097280"/>
          </a:xfrm>
          <a:prstGeom prst="rect">
            <a:avLst/>
          </a:prstGeom>
          <a:solidFill>
            <a:srgbClr val="E07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5204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Code 階段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95160" y="3200400"/>
            <a:ext cx="1920240" cy="1417320"/>
          </a:xfrm>
          <a:prstGeom prst="rect">
            <a:avLst/>
          </a:prstGeom>
          <a:solidFill>
            <a:srgbClr val="BC47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95160" y="320040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Production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越早發現問題，修改成本越低。這是 SDD 的核心經濟學。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規格文件的結構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四個核心文件與撰寫指南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68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四個文件的角色與關係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6596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196596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proposal.md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為什麼做？做什麼？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651760" y="1097280"/>
            <a:ext cx="196596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097280"/>
            <a:ext cx="1965960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spec.md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詳細規格、驗收標準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846320" y="1097280"/>
            <a:ext cx="196596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97280"/>
            <a:ext cx="1965960" cy="45720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怎麼做？架構決策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182880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7040880" y="1097280"/>
            <a:ext cx="196596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0" y="1097280"/>
            <a:ext cx="1965960" cy="45720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1097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tasks.md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誰做什麼？排程順序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資料夾結構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200400"/>
            <a:ext cx="80467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32461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.spec/ 或 .openspec/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34290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changes/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6118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feature-user-auth/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3794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proposal.md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39776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spec.md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4160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design.md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43434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tasks.md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45262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archive/    （已完成的變更）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撰寫黃金法則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68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好的範例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不好的範例 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用動詞開頭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9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「回傳 JWT access token」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「JWT 相關」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加上數值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9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「token 有效期 15 分鐘」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「token 要有期限」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寫反面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9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「不得以明文儲存密碼」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（沒提安全性）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包含邊界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9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「密碼長度 8～128 字元」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「密碼要有長度限制」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考慮錯誤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9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「token 過期回傳 401」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「處理過期情況」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驗收標準模板：Given → When → Then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82296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60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前提條件：使用者已登入且有管理員權限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4480560"/>
            <a:ext cx="822960" cy="2743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4480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4630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觸發動作：點擊「刪除使用者」按鈕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800600"/>
            <a:ext cx="822960" cy="27432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4630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預期結果：該使用者被標記為已停用（非物理刪除）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與其他方法論的比較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Vibe Coding 到 Waterfall 的光譜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開發方法論比較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68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64592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方法論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核心驅動力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規格粒度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適合場景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友善度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 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快速原型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測試案例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函式層級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邏輯密集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Given/When/Then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功能層級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使用者導向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結構化規格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功能+技術+介面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輔助開發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Waterfall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完整需求文件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系統層級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大型企業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840480"/>
            <a:ext cx="804672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3840480"/>
            <a:ext cx="73152" cy="91440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和 TDD 可以結合！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的驗收標準可以直接轉化為 TDD 的測試案例：先寫 Spec → 從 Spec 產生測試 → 依 Spec 實作 → 驗證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不是 Waterfall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68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Waterfall 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規格變更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困難，需走變更流程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9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隨時可改，鼓勵更新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階段關係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嚴格線性，不可回頭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9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可隨時回到前面階段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文件量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大量，常有冗餘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9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精簡，只寫需要的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交付頻率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一次交付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9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分任務逐步交付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規格生命週期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寫完就歸檔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9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隨開發持續演化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時間投入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4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數週到數月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99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分鐘到數小時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89120"/>
            <a:ext cx="804672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4389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規格是活的，30 分鐘投入即可開始。這不是瀑布式的大型文件工程。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兩大開源框架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vs Spec Kit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兩大開源框架總覽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74904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749040" cy="5486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Fission AI  ⭐ 31.5k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輕量彈性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TypeScript / Node.js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npm install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步驟流程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棕地專案友善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無嚴格階段門檻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374904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05840"/>
            <a:ext cx="3749040" cy="5486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05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GitHub  ⭐ 77.7k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結構嚴謹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/ UV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specify init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核心 + 3 選用指令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機制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規格即可執行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共通點：Markdown 載體 | 20+ AI 工具支援 | Slash Command | MIT License | 不綁定 AI 模型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OpenSpec：三步驟工作流程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560320" cy="237744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2560320" cy="5029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Propose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/opsx:propose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從想法產生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+ spec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tasks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286000"/>
            <a:ext cx="27432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474720" y="1097280"/>
            <a:ext cx="2560320" cy="237744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097280"/>
            <a:ext cx="2560320" cy="502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Apply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/opsx:apply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讀取規格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逐一實作任務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2286000"/>
            <a:ext cx="27432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400800" y="1097280"/>
            <a:ext cx="2560320" cy="237744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097280"/>
            <a:ext cx="2560320" cy="50292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Archive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9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/opsx:archive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移入 archive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清理工作區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設計原則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1148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流動而非僵化（Fluid not rigid）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3159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迭代而非瀑布（Iterative not waterfall）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51713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簡單而非複雜（Easy not complex）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71830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棕地友善（Built for brownfield）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9194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可擴展（Scalable from personal to enterprise）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16636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另有擴展指令：/opsx:explore、/opsx:verify、/opsx:sync 等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Kit：六大階段流程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43000"/>
            <a:ext cx="411480" cy="411480"/>
          </a:xfrm>
          <a:prstGeom prst="ellipse">
            <a:avLst/>
          </a:prstGeom>
          <a:solidFill>
            <a:srgbClr val="BC474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/speckit.constitution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建立治理原則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00584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1143000"/>
            <a:ext cx="411480" cy="41148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690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6908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/speckit.specify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定義需求規格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00584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1143000"/>
            <a:ext cx="411480" cy="41148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/speckit.plan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技術實作策略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306324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8872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/speckit.tasks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拆解可執行任務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29000" y="292608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66160" y="3063240"/>
            <a:ext cx="411480" cy="411480"/>
          </a:xfrm>
          <a:prstGeom prst="ellipse">
            <a:avLst/>
          </a:prstGeom>
          <a:solidFill>
            <a:srgbClr val="6A994E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06908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06908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/speckit.implement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6616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依任務逐步實作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292608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46520" y="3063240"/>
            <a:ext cx="411480" cy="411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4944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94944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/speckit.validate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4652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品質驗證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 獨有：Constitution 機制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就像專案的「憲法」，在所有規格之上建立治理原則</a:t>
            </a:r>
            <a:endParaRPr lang="en-US" sz="14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範例規則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語言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後端 Python 3.11+，前端 TypeScript 5+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框架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用 FastAPI，ORM 用 SQLAlchemy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測試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覆蓋率 &gt; 90%，所有 API 有整合測試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密碼 bcrypt，API 需 JWT 認證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風格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 8，函式 ≤ 30 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架構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Architecture 三層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114800"/>
            <a:ext cx="37490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114800"/>
            <a:ext cx="3749040" cy="54864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Constitution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 用 REST, B 用 GraphQL, C 用 gRPC → 架構混亂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4114800"/>
            <a:ext cx="37490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4114800"/>
            <a:ext cx="3749040" cy="54864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Constitution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2064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Feature 統一用 REST → 架構一致 ✅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vs Spec Kit 完整比較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68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比較項目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開發者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Fission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哲學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流動、輕量、彈性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結構化、嚴謹、完整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步驟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階段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階段管制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無嚴格門檻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有明確階段流程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隱含在 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獨立階段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技術棧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/ Node.js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3.11+ / UV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install -g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specify init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學習曲線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低（5 分鐘上手）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適合場景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個人～團隊、棕地、快速迭代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B59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企業級、新專案、高合規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如何選擇框架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54864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專案類型？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09728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1097280"/>
            <a:ext cx="54864" cy="5486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9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既有專案 → OpenSpec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5603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97280"/>
            <a:ext cx="54864" cy="5486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新專案 → 繼續判斷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011680"/>
            <a:ext cx="2011680" cy="54864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需要團隊治理？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201168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17520" y="2011680"/>
            <a:ext cx="54864" cy="5486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 → OpenSpec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011680"/>
            <a:ext cx="25603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011680"/>
            <a:ext cx="54864" cy="5486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→ Spec Kit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926080"/>
            <a:ext cx="2011680" cy="54864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偏好的語言？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292608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017520" y="2926080"/>
            <a:ext cx="54864" cy="5486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TS → OpenSpec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2926080"/>
            <a:ext cx="25603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926080"/>
            <a:ext cx="54864" cy="5486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Spec Kit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840480"/>
            <a:ext cx="2011680" cy="54864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工作風格？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17520" y="384048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017520" y="3840480"/>
            <a:ext cx="54864" cy="5486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彈性、邊做邊想 → OpenSpec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840480"/>
            <a:ext cx="25603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3840480"/>
            <a:ext cx="54864" cy="5486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嚴謹、計畫先行 → Spec Kit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在 AI 開發中的定位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成熟度模型與工具鏈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68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輔助開發的成熟度模型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73152" cy="822960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789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078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Pray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直接下指令，AI 猜測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適合：快速實驗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804672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965960"/>
            <a:ext cx="73152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039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2039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Context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附上下文，較可預測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適合：小幅修改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804672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926080"/>
            <a:ext cx="73152" cy="82296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9992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03120" y="2999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Driven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結構化規格，可驗證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適合：功能開發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804672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886200"/>
            <a:ext cx="73152" cy="82296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9593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03120" y="39593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0312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自主規劃與執行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適合：未來方向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12480" y="2926080"/>
            <a:ext cx="320040" cy="82296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我們在這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的六大價值主張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60604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43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可預測性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行為有明確依據，減少猜測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005840"/>
            <a:ext cx="260604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143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可迭代性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規格隨時可更新，支援敏捷式迭代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60604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143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可驗證性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每條規格都有驗收標準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260604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可協作性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人類與 AI 有共同語言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2834640"/>
            <a:ext cx="260604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29000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42900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可擴展性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20440" y="3794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從個人到企業都適用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834640"/>
            <a:ext cx="260604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0936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可追溯性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0" y="3794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所有決策都記錄在規格中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適用場景、限制與反模式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什麼時候該用、什麼時候不用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最適合的場景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60604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2606040" cy="54864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新功能開發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需要明確定義需求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005840"/>
            <a:ext cx="260604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005840"/>
            <a:ext cx="2606040" cy="54864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143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1508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開發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783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需要嚴格的介面規格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260604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005840"/>
            <a:ext cx="2606040" cy="54864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143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1508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多人協作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1783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需要共同的需求文件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468880"/>
            <a:ext cx="260604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2468880"/>
            <a:ext cx="2606040" cy="54864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" y="2971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系統整合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需要清楚的介面契約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29000" y="2468880"/>
            <a:ext cx="260604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29000" y="2468880"/>
            <a:ext cx="2606040" cy="54864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429000" y="2971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合規要求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2900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需要完整的需求追溯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2468880"/>
            <a:ext cx="260604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2468880"/>
            <a:ext cx="2606040" cy="54864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309360" y="2971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複雜重構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需要確保行為不變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判斷標準：複雜度高 | 影響範圍廣 | 需求模糊 | 多人協作 | 不可逆 → 用 SDD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的限制與反模式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不太適合的場景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快速原型（還在探索方向）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簡單 Bug Fix（改一行）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02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文件更新（非 code）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95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緊急熱修（需立即部署）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587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UI 微調（調色、間距）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常見反模式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過度規格化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根據複雜度決定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709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規格腐化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實作時同步更新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0025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瀑布偽裝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002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規格是活的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形式主義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295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要有實質內容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587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忽略 Non-Goals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587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明確定義範圍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80467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108960"/>
            <a:ext cx="73152" cy="1645920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最危險的反模式：規格腐化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3657600"/>
            <a:ext cx="1737360" cy="822960"/>
          </a:xfrm>
          <a:prstGeom prst="rect">
            <a:avLst/>
          </a:prstGeom>
          <a:solidFill>
            <a:srgbClr val="6A994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3657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規格新鮮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97480" y="406908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2880360" y="3657600"/>
            <a:ext cx="1737360" cy="82296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880360" y="3657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小幅偏差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406908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4846320" y="3657600"/>
            <a:ext cx="1737360" cy="822960"/>
          </a:xfrm>
          <a:prstGeom prst="rect">
            <a:avLst/>
          </a:prstGeom>
          <a:solidFill>
            <a:srgbClr val="E07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3657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嚴重脫節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29400" y="4069080"/>
            <a:ext cx="13716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6812280" y="3657600"/>
            <a:ext cx="1737360" cy="822960"/>
          </a:xfrm>
          <a:prstGeom prst="rect">
            <a:avLst/>
          </a:prstGeom>
          <a:solidFill>
            <a:srgbClr val="BC47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12280" y="3657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完全失效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 SDD 的策略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漸進式導入、團隊分工、CI/CD 整合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68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漸進式導入路徑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560320" cy="2743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256032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階段一：試水溫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1～2 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選一個中等規模功能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用 OpenSpec 走一次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評估體驗與效果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2286000"/>
            <a:ext cx="27432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474720" y="1005840"/>
            <a:ext cx="2560320" cy="2743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005840"/>
            <a:ext cx="2560320" cy="502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階段二：建立習慣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1～2 個月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所有新功能用 SDD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建立團隊 Constitution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標準化規格格式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2286000"/>
            <a:ext cx="27432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6400800" y="1005840"/>
            <a:ext cx="2560320" cy="2743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1005840"/>
            <a:ext cx="2560320" cy="50292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階段三：全面採用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所有變更走 SDD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整合 CI/CD 驗證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建立 Spec Review 文化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常見導入錯誤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297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一步到位（應漸進）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572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過度規格化（應分場景）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4297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規格當死文件（應持續更新）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4572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忽略 Spec Review（和 Code Review 同等重要）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中的團隊角色與分工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965960" cy="274320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96596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PM / Tech Lead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撰寫 Proposal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定義目標與範圍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做最終決策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005840"/>
            <a:ext cx="1965960" cy="274320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005840"/>
            <a:ext cx="1965960" cy="502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005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 Developer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撰寫 Spec &amp; 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Review AI 產出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維護規格更新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1965960" cy="274320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05840"/>
            <a:ext cx="1965960" cy="5029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005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Assistant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協助撰寫規格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依規格實作 code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產生測試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1005840"/>
            <a:ext cx="1965960" cy="274320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1005840"/>
            <a:ext cx="1965960" cy="50292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005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QA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定義驗收標準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8660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撰寫 edge case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8660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驗證實作結果</a:t>
            </a:r>
            <a:endParaRPr lang="en-US" sz="11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8046720" cy="914400"/>
        </p:xfrm>
        <a:graphic>
          <a:graphicData uri="http://schemas.openxmlformats.org/drawingml/2006/table">
            <a:tbl>
              <a:tblPr/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與 AI 模型的搭配策略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68</a:t>
            </a:r>
            <a:endParaRPr lang="en-US" sz="9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階段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推薦模型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需要理解模糊需求並結構化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需要考慮邊界條件和完整性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需要架構思考和取捨判斷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結構化工作，不需深度思考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需要精準的 code 產出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需要仔細比對 spec 與實作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931920"/>
            <a:ext cx="804672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3931920"/>
            <a:ext cx="73152" cy="91440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推薦策略：混合搭配（成本效益最佳）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思考型工作（Propose / Specify / Design）用 Opus 級，執行型工作（Tasks / Implement / Validate）用 Sonnet 級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未來展望與總結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的演進與行動方案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68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的未來展望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560320" cy="21945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2560320" cy="502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現在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人寫規格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依規格實作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人類主筆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2103120"/>
            <a:ext cx="27432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474720" y="1005840"/>
            <a:ext cx="2560320" cy="21945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005840"/>
            <a:ext cx="256032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近期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1691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協助撰寫規格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人核准後實作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草稿、人審核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103120"/>
            <a:ext cx="274320" cy="0"/>
          </a:xfrm>
          <a:prstGeom prst="line">
            <a:avLst/>
          </a:prstGeom>
          <a:noFill/>
          <a:ln w="31750">
            <a:solidFill>
              <a:srgbClr val="5A5A5A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400800" y="1005840"/>
            <a:ext cx="2560320" cy="21945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005840"/>
            <a:ext cx="2560320" cy="5029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未來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1691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自主生成規格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人僅做最終審查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全自動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566160"/>
            <a:ext cx="804672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566160"/>
            <a:ext cx="73152" cy="118872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不會被 AI 取代，只會進化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即使 AI 能自己寫規格，「規格驅動」的理念仍然成立。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規格的本質不變：它是人和 AI 之間的共識契約。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核心要點回顧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54864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的本質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規格是開發的驅動力，不是附屬品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804672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554480"/>
            <a:ext cx="54864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First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人與 AI 先對齊，再動手寫 code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103120"/>
            <a:ext cx="804672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103120"/>
            <a:ext cx="54864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Specs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規格是活的，隨時可更新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651760"/>
            <a:ext cx="804672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651760"/>
            <a:ext cx="54864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Intent-Driven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先定義「要什麼」，再決定「怎麼做」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804672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200400"/>
            <a:ext cx="54864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每條規格都對應可驗證的標準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749040"/>
            <a:ext cx="804672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749040"/>
            <a:ext cx="54864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輕量彈性，3 步驟，適合快速迭代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804672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297680"/>
            <a:ext cx="54864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040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結構嚴謹，6 階段，適合流程管控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你的第一步行動方案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97280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005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005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選一個你正在做的功能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804672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755648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16642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16642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 30 分鐘寫一份簡單的 Spec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322576"/>
            <a:ext cx="804672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414016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232257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232257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Spec 餵給 AI，讓它依 Spec 實作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2980944"/>
            <a:ext cx="804672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072384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298094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68880" y="298094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比較有 Spec vs 沒 Spec 的差異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3639312"/>
            <a:ext cx="804672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3730752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36393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468880" y="363931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OpenSpec 或 Spec Kit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4297680"/>
            <a:ext cx="804672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6A994E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80160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468880" y="42976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逐步將 SDD 融入日常開發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帶走的三個重點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73152" cy="10515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371600"/>
            <a:ext cx="502920" cy="50292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11887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規格不是負擔，是槓桿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16002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 30 分鐘寫規格，省下 3 小時的來回修改。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80467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331720"/>
            <a:ext cx="73152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60604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24231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不是 Waterfall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28346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規格是活的，隨時可以迭代更新。不是一次性的大型文件工程。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80467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566160"/>
            <a:ext cx="73152" cy="1051560"/>
          </a:xfrm>
          <a:prstGeom prst="rect">
            <a:avLst/>
          </a:prstGeom>
          <a:solidFill>
            <a:srgbClr val="6A994E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6A994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36576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先從小處開始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40690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不需要一步到位。選一個功能，用最簡單的 propose → apply 試跑一次。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參考資源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645920" cy="3200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74904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74904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Fission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github.com/Fission-AI/OpenSpec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31.5k+ stars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輕量級 SDD 框架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/ Node.js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74904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88720"/>
            <a:ext cx="3749040" cy="4572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GitHub  ⭐ 77.7k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github.com/github/spec-kit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377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出品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 SDD 工具組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UV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3C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1371600"/>
            <a:ext cx="73152" cy="2286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Driven Development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先寫規格，再寫程式碼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讓人類與 AI 在動手前先達成共識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68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 Driven Development</dc:title>
  <dc:subject>PptxGenJS Presentation</dc:subject>
  <dc:creator>Course10</dc:creator>
  <cp:lastModifiedBy>Course10</cp:lastModifiedBy>
  <cp:revision>1</cp:revision>
  <dcterms:created xsi:type="dcterms:W3CDTF">2026-03-17T14:35:31Z</dcterms:created>
  <dcterms:modified xsi:type="dcterms:W3CDTF">2026-03-17T14:35:31Z</dcterms:modified>
</cp:coreProperties>
</file>