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7310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解剖 Agent Harness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將純粹的語言模型轉化為自主運作的生產引擎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課程導覽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548640" cy="301752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1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引言：為什麼需要 Harness？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472184"/>
            <a:ext cx="548640" cy="301752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7218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1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147218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核心公式：Agent = Model + Harness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847088"/>
            <a:ext cx="548640" cy="301752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4708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1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184708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器官一：檔案系統 (Filesystem)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221992"/>
            <a:ext cx="548640" cy="301752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22199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1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221992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器官二：Bash 與程式碼執行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2596896"/>
            <a:ext cx="548640" cy="301752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59689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1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2596896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器官三：沙盒與觀測工具 (Sandboxes)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2971800"/>
            <a:ext cx="548640" cy="301752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97180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1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2971800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器官四：記憶與搜尋 (Memory &amp; Search)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3346704"/>
            <a:ext cx="548640" cy="301752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34670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1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45920" y="334670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脈絡管理：對抗 Context Rot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3721608"/>
            <a:ext cx="548640" cy="301752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72160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1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45920" y="372160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長效自主任務 (Long Horizon Execution)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4400" y="4096512"/>
            <a:ext cx="548640" cy="301752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09651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1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45920" y="4096512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模型與 Harness 的共同演進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" y="4471416"/>
            <a:ext cx="548640" cy="301752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47141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1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645920" y="4471416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結語與未來展望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474720" y="1874520"/>
            <a:ext cx="2194560" cy="0"/>
          </a:xfrm>
          <a:prstGeom prst="line">
            <a:avLst/>
          </a:prstGeom>
          <a:noFill/>
          <a:ln w="25400">
            <a:solidFill>
              <a:srgbClr val="D48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引言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為什麼需要 Harness？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201168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「If you're not the model, you're the harness.」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Vivek Trivedy — LangChain, 2026.03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大語言模型的本質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核心運作方式：Text In → Text Out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模型本身是一個「無狀態」的推理引擎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每次呼叫都是獨立的：沒有記憶、沒有環境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擁有「智能」(Intelligence)，缺乏「能力」(Capability)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它像一顆超強大腦，但沒有手腳、眼睛與記憶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模型的四大先天極限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無法跨對話維持狀態 — Context Window 用完即消失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無法執行程式碼 — 只能生成文字，不能真正執行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無法獲取即時知識 — 知識凍結於訓練截止日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無法自行建立作業環境 — 不能安裝套件、配置系統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關鍵洞察：模型 ≠ Agent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solidFill>
            <a:srgbClr val="282C31"/>
          </a:solidFill>
          <a:ln w="19050">
            <a:solidFill>
              <a:srgbClr val="D48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7132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一個原始的語言模型，就像一顆擁有超強運算能力的大腦，</a:t>
            </a:r>
            <a:endParaRPr lang="en-US" sz="17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但沒有手腳、沒有眼睛、沒有記憶。</a:t>
            </a:r>
            <a:endParaRPr lang="en-US" sz="1700" dirty="0"/>
          </a:p>
          <a:p>
            <a:pPr marL="0" indent="0" algn="ctr">
              <a:lnSpc>
                <a:spcPct val="160000"/>
              </a:lnSpc>
              <a:buNone/>
            </a:pPr>
            <a:endParaRPr lang="en-US" sz="17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直到我們為它穿上「外骨骼」— 也就是 Harness，</a:t>
            </a:r>
            <a:endParaRPr lang="en-US" sz="17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純粹的智能才能轉化為可用的 Agent。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474720" y="1874520"/>
            <a:ext cx="2194560" cy="0"/>
          </a:xfrm>
          <a:prstGeom prst="line">
            <a:avLst/>
          </a:prstGeom>
          <a:noFill/>
          <a:ln w="25400">
            <a:solidFill>
              <a:srgbClr val="D48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核心公式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= Model + Harness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743200" y="91440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B0B0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017520" y="914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0" y="9144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B0B0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760720" y="914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HARNESS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01752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（純粹智能）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（系統外骨骼）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560320"/>
            <a:ext cx="7315200" cy="0"/>
          </a:xfrm>
          <a:prstGeom prst="line">
            <a:avLst/>
          </a:prstGeom>
          <a:noFill/>
          <a:ln w="6350">
            <a:solidFill>
              <a:srgbClr val="3A3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是包覆在模型之外的所有程式碼、設定與執行邏輯。</a:t>
            </a:r>
            <a:endParaRPr lang="en-US" sz="16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它是讓模型在現實世界中「行動」的能力骨架。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Harness 的五大核心元件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System Prompts — 定義行為邊界與初始設定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Tools / Skills / MCPs — 工具與其介面描述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Bundled Infrastructure — 檔案系統、沙盒、瀏覽器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Orchestration Logic — 子代理生成、交接、模型路由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Hooks / Middleware — 壓縮、接續執行、語法檢查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行為對比矩陣：以終為始的系統設計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1341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12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期望行為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12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模型極限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8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12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Harness 解法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與真實數據互動並保留進度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Window 有限且無狀態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檔案系統 (Filesystems)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自主解決未預見的問題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只能呼叫預先定義的 API 工具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Bash 與程式碼執行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安全地執行並推進進度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無法自行建立執行環境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沙盒與觀測工具 (Sandboxes)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獲取最新資訊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知識凍結於訓練資料集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記憶與搜尋 (Memory &amp; Search)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474720" y="1874520"/>
            <a:ext cx="2194560" cy="0"/>
          </a:xfrm>
          <a:prstGeom prst="line">
            <a:avLst/>
          </a:prstGeom>
          <a:noFill/>
          <a:ln w="25400">
            <a:solidFill>
              <a:srgbClr val="D48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器官一：檔案系統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持久化儲存與協作中樞 (The Filesystem)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為什麼檔案系統是第一器官？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是 Agent 的「短期記憶」，但容量嚴格受限。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當任務複雜到超過一個 Context Window 的範圍，模型就會「失憶」。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內建檔案系統抽象層（fs-ops tools），將資訊從昂貴的 Context 卸載到持久化的儲存空間。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從根本上解決了 Context Window 複製貼上的笨重體驗。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1645920" cy="1645920"/>
          </a:xfrm>
          <a:prstGeom prst="ellipse">
            <a:avLst/>
          </a:prstGeom>
          <a:solidFill>
            <a:srgbClr val="282C31"/>
          </a:solidFill>
          <a:ln w="25400">
            <a:solidFill>
              <a:srgbClr val="D48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560320" y="8229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專屬工作區 (Workspace)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0" y="164592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 Agent 能讀取龐大的資料、程式碼與說明文件。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不再受限於 Context Window 的大小，Agent 可以「翻閱」任意數量的檔案，就像人類開發者在 IDE 中瀏覽專案一樣。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是 Agent 的「辦公桌」— 所有素材唾手可得。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1645920" cy="1645920"/>
          </a:xfrm>
          <a:prstGeom prst="ellipse">
            <a:avLst/>
          </a:prstGeom>
          <a:solidFill>
            <a:srgbClr val="282C31"/>
          </a:solidFill>
          <a:ln w="25400">
            <a:solidFill>
              <a:srgbClr val="D48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560320" y="8229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狀態卸載 (Incremental Offloading)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0" y="164592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儲存中間產物，讓狀態跨越 Session 永久保存。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無須將所有資訊塞入脈絡。Agent 可以將階段性成果寫入檔案，下次啟動時直接讀取，實現真正的「斷點續傳」。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這是長效自主任務的基石。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1645920" cy="1645920"/>
          </a:xfrm>
          <a:prstGeom prst="ellipse">
            <a:avLst/>
          </a:prstGeom>
          <a:solidFill>
            <a:srgbClr val="282C31"/>
          </a:solidFill>
          <a:ln w="25400">
            <a:solidFill>
              <a:srgbClr val="D48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560320" y="8229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協作表面 (Collaboration Surface)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0" y="164592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成為多 Agent 團隊與人類共同協作的共享帳本 (Shared Ledger)。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當多個 Agent 同時處理同一個 Codebase 時，檔案系統就是它們的「溝通平台」。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結合 Git 實現版本控制、錯誤回滾與實驗分支。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整合的戰略價值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版本控制 — 每一步操作都有完整記錄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錯誤回滾 — 出錯時可以安全退回上一步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實驗分支 — 嘗試不同策略不影響主線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協作 — 透過分支與合併實現並行開發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可審計性 — 完整的操作軌跡供人類審查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檔案系統小結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solidFill>
            <a:srgbClr val="282C31"/>
          </a:solidFill>
          <a:ln w="19050">
            <a:solidFill>
              <a:srgbClr val="D48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7132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檔案系統不只是「存檔」工具，</a:t>
            </a:r>
            <a:endParaRPr lang="en-US" sz="17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它是 Agent 的記憶體、協作平台、</a:t>
            </a:r>
            <a:endParaRPr lang="en-US" sz="17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與狀態管理的基礎設施。</a:t>
            </a:r>
            <a:endParaRPr lang="en-US" sz="1700" dirty="0"/>
          </a:p>
          <a:p>
            <a:pPr marL="0" indent="0" algn="ctr">
              <a:lnSpc>
                <a:spcPct val="160000"/>
              </a:lnSpc>
              <a:buNone/>
            </a:pPr>
            <a:endParaRPr lang="en-US" sz="17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沒有檔案系統，Agent 就只是一個健忘的聊天機器人。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474720" y="1874520"/>
            <a:ext cx="2194560" cy="0"/>
          </a:xfrm>
          <a:prstGeom prst="line">
            <a:avLst/>
          </a:prstGeom>
          <a:noFill/>
          <a:ln w="25400">
            <a:solidFill>
              <a:srgbClr val="D48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器官二：Bash 與程式碼執行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賦予模型一台專屬電腦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傳統作法 vs 現代 Harness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傳統作法 (Legacy)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為每個任務預先定義 API 工具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工具數量爆炸，維護成本高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遇到未預見的需求就束手無策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人類需要不斷擴充工具集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現代 Harness (Modern)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注入通用 Bash/Code 執行工具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模型可以動態編寫與執行程式碼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遇到新問題時自行「造工具」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大幅降低工具預配置成本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迴圈模式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ReAct（Reason + Act）是現代 Agent 的核心執行模式：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 (Reason) → 呼叫工具 (Act) → 觀察結果 (Observe) → 重複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工具讓這個迴圈變得無限靈活。模型不再依賴「預先寫死」的 API 工具清單，而是可以即時編寫程式碼來解決問題。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這等於賦予模型一台完整的電腦 — 能做的事從「清單內」擴展到「幾乎任何事」。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動態工具生成的威力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模型發現需要某個功能時，直接寫腳本實現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無須人類預先設計 API 端點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可以組合多個系統指令完成複雜操作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安裝套件、處理數據、呼叫服務全部自動化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已成為當今 Harness 的預設策略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201168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「與其讓人類預先寫死每一種可能用到的工具，不如提供一個能動態生成工具的通用介面。」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Harness 設計哲學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474720" y="1874520"/>
            <a:ext cx="2194560" cy="0"/>
          </a:xfrm>
          <a:prstGeom prst="line">
            <a:avLst/>
          </a:prstGeom>
          <a:noFill/>
          <a:ln w="25400">
            <a:solidFill>
              <a:srgbClr val="D48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器官三：沙盒與觀測工具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安全邊界與預設環境 (Sandboxes &amp; Tooling)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為什麼需要沙盒？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既然我們賦予 Agent 執行程式碼的能力，就必須同時設立安全邊界。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在本地端執行 Agent 生成的程式碼充滿風險且無法擴展。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必須連接沙盒以確保安全、隔離的程式碼執行，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並支援依需求動態擴展與銷毀。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沙盒的四大核心能力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隔離性 — 程式碼執行與本地系統完全隔離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動態性 — 按需創建與銷毀執行環境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安全性 — 指令白名單與網路隔離策略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可擴展性 — 支援多個任務同時並行執行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預設觀測工具 (Observation Tooling)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語言執行環境 (Runtimes) 與套件管理器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CLI 與測試 CLI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瀏覽器 — 用於網頁互動與資訊擷取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日誌 (Logs) 與截圖 (Screenshots) 工具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測試執行器 (Test Runners) —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自我驗證的基礎</a:t>
            </a:r>
            <a:endParaRPr lang="en-US" sz="14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Computer Use – </a:t>
            </a:r>
            <a:r>
              <a:rPr lang="en-US" sz="1400" dirty="0" err="1">
                <a:solidFill>
                  <a:schemeClr val="bg1"/>
                </a:solidFill>
              </a:rPr>
              <a:t>執行端到端的測試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核心行為：自我驗證迴圈 (Self-Verification Loop)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1554480" cy="329184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0"/>
            <a:ext cx="1554480" cy="4572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280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24688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撰寫程式碼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與測試案例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74520" y="1828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4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03120" y="1097280"/>
            <a:ext cx="1554480" cy="329184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097280"/>
            <a:ext cx="1554480" cy="4572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280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10312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94560" y="24688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在沙盒中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執行測試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1828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4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86200" y="1097280"/>
            <a:ext cx="1554480" cy="329184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1097280"/>
            <a:ext cx="1554480" cy="45720"/>
          </a:xfrm>
          <a:prstGeom prst="rect">
            <a:avLst/>
          </a:prstGeom>
          <a:solidFill>
            <a:srgbClr val="E8A654"/>
          </a:solidFill>
          <a:ln/>
        </p:spPr>
      </p:sp>
      <p:sp>
        <p:nvSpPr>
          <p:cNvPr id="17" name="Text 15"/>
          <p:cNvSpPr/>
          <p:nvPr/>
        </p:nvSpPr>
        <p:spPr>
          <a:xfrm>
            <a:off x="3886200" y="1280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6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88620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77640" y="24688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觀察執行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結果與日誌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0680" y="1828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4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669280" y="1097280"/>
            <a:ext cx="1554480" cy="329184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1097280"/>
            <a:ext cx="1554480" cy="45720"/>
          </a:xfrm>
          <a:prstGeom prst="rect">
            <a:avLst/>
          </a:prstGeom>
          <a:solidFill>
            <a:srgbClr val="E8A654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1280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6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66928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760720" y="24688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將錯誤訊息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回饋修正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23760" y="1828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4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452360" y="1097280"/>
            <a:ext cx="1554480" cy="329184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52360" y="1097280"/>
            <a:ext cx="1554480" cy="457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7452360" y="1280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45236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543800" y="24688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測試通過，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推進下一步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自我驗證迴圈的意義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solidFill>
            <a:srgbClr val="282C31"/>
          </a:solidFill>
          <a:ln w="19050">
            <a:solidFill>
              <a:srgbClr val="D48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7132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決定執行地點、可用工具與驗證方式，</a:t>
            </a:r>
            <a:endParaRPr lang="en-US" sz="17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全都是 Harness 的系統設計決策，而非模型與生俱來的能力。</a:t>
            </a:r>
            <a:endParaRPr lang="en-US" sz="1700" dirty="0"/>
          </a:p>
          <a:p>
            <a:pPr marL="0" indent="0" algn="ctr">
              <a:lnSpc>
                <a:spcPct val="160000"/>
              </a:lnSpc>
              <a:buNone/>
            </a:pPr>
            <a:endParaRPr lang="en-US" sz="17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能「自我修正」，</a:t>
            </a:r>
            <a:endParaRPr lang="en-US" sz="17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是因為 Harness 提供了觀察與修正的閉環。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474720" y="1874520"/>
            <a:ext cx="2194560" cy="0"/>
          </a:xfrm>
          <a:prstGeom prst="line">
            <a:avLst/>
          </a:prstGeom>
          <a:noFill/>
          <a:ln w="25400">
            <a:solidFill>
              <a:srgbClr val="D48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器官四：記憶與搜尋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突破知識凍結的邊界 (Memory &amp; Search)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核心痛點：知識凍結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模型的知識受限於訓練時的資料截止日。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模型不知道：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最新的函式庫版本與 API 變更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即時的市場數據與新聞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你的專案特定的上下文與慣例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不修改模型權重的前提下，唯一的解法就是「脈絡注入」(Context Injection)。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Harness 的雙重記憶策略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持續學習 (Continual Learning)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利用檔案系統支援記憶標準（如 AGENTS.md）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啟動時讀取記憶檔案並注入 Context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工作過程中動態更新記憶檔案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知識跨 Session 傳承，越用越聰明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突破知識盲區 (Knowledge Cutoffs)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內建網路搜尋工具（Web Search）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伺服器提供即時數據存取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Context7 等工具查詢最新函式庫文件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賦予 Agent 查詢即時數據的能力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AGENTS.md 記憶標準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一個放在專案根目錄的標準化記憶檔案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啟動時自動讀取，作為初始脈絡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包含：專案架構、慣例、偏好、常見陷阱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可在工作中動態更新此檔案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實現「學習」— 下次啟動時記得上次學到的事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記憶與搜尋小結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solidFill>
            <a:srgbClr val="282C31"/>
          </a:solidFill>
          <a:ln w="19050">
            <a:solidFill>
              <a:srgbClr val="D48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7132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記憶與搜尋讓 Agent</a:t>
            </a:r>
            <a:endParaRPr lang="en-US" sz="17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從「一次性的對話工具」進化為「持續進化的工作夥伴」。</a:t>
            </a:r>
            <a:endParaRPr lang="en-US" sz="1700" dirty="0"/>
          </a:p>
          <a:p>
            <a:pPr marL="0" indent="0" algn="ctr">
              <a:lnSpc>
                <a:spcPct val="160000"/>
              </a:lnSpc>
              <a:buNone/>
            </a:pPr>
            <a:endParaRPr lang="en-US" sz="17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持續學習累積專案知識，</a:t>
            </a:r>
            <a:endParaRPr lang="en-US" sz="17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突破盲區掌握最新資訊。</a:t>
            </a:r>
            <a:endParaRPr lang="en-US" sz="17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不再只是「聰明但無知」的模型。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474720" y="1874520"/>
            <a:ext cx="2194560" cy="0"/>
          </a:xfrm>
          <a:prstGeom prst="line">
            <a:avLst/>
          </a:prstGeom>
          <a:noFill/>
          <a:ln w="25400">
            <a:solidFill>
              <a:srgbClr val="D48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脈絡管理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對抗 Context Rot 的三大防禦策略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什麼是「脈絡腐敗」(Context Rot)？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隨著工作進行，Context Window 逐漸填滿。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模型在推理與完成任務的表現會顯著下降 — 這就是 Context Rot。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的新角色：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是一種極度稀缺的資源。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現代 Harness 本質上就是一個「優質脈絡工程的交付機制」。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 API 因為 Token 滿載而報錯，那就是 Harness 的失職。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Harness 的三大資源管理防禦策略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97480" cy="365760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97480" cy="54864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壓縮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(Compaction)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即將滿載時，Harness 介入進行智慧摘要與內容卸載。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確保 Agent 能繼續工作而不中斷，同時保留最關鍵的脈絡資訊。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97480" cy="365760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05840"/>
            <a:ext cx="2697480" cy="54864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188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工具輸出卸載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(Tool Call Offloading)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針對過長的工具輸出，只保留頭部與尾部 Token。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完整內容卸載至檔案系統供後續查詢，大幅減少雜訊。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97480" cy="365760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05840"/>
            <a:ext cx="2697480" cy="54864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188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技能漸進揭露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(Progressive Disclosure)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178308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避免啟動時將所有 MCP 與工具描述塞入 Context。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透過漸進式揭露動態載入技能，保護初始推理能力。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壓縮 (Compaction) 深入解析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觸發時機：Context Window 使用量接近上限時自動啟動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核心機制：智慧摘要 — 保留關鍵決策，壓縮過程細節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狀態保存：壓縮摘要 + 檔案系統中的完整記錄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效果：讓 Agent 能在理論上無限期持續工作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關鍵：壓縮品質直接決定 Agent 的長期表現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工具輸出卸載 &amp; 技能漸進揭露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工具輸出卸載：只在 Context 中保留頭尾 Token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完整內容寫入檔案系統，附路徑供後續查詢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大幅減少 Context 中的雜訊與無關資訊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漸進揭露：只在需要時才載入相關技能與工具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按需動態注入 MCP 與技能描述，保護 Context 純淨度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474720" y="1874520"/>
            <a:ext cx="2194560" cy="0"/>
          </a:xfrm>
          <a:prstGeom prst="line">
            <a:avLst/>
          </a:prstGeom>
          <a:noFill/>
          <a:ln w="25400">
            <a:solidFill>
              <a:srgbClr val="D48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長效自主任務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Horizon Execution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長效任務的核心挑戰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打造能自主寫程式的 Agent 是終極聖杯。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但模型在處理跨越多個 Context Windows 的長期任務時，常面臨三個致命傷：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提早退出 — 模型「覺得」任務完成了，但實際上還沒有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拆解困難 — 無法將大任務有效分解為可管理的步驟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邏輯不連貫 — 跨越多個 Context Window 後失去前後一致性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無 Harness 引導 vs Harness 引導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無 Harness 引導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在單一 Context Window 內嘗試完成所有事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用完後完全失憶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無法從上次中斷的地方繼續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品質隨 Context 填充急劇下降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Harness 引導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 Context Window 邊界有 Filesystem 持久化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每個階段都有 Verification 驗證步驟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狀態跨 Session 保存，實現斷點續傳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品質透過持續驗證保持穩定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Ralph Loop：長效執行的引擎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Ralph Loop 是一種 Harness Hook 模式，專門對抗模型的「提早退出」傾向：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攔截 (Intercept)：當模型試圖在任務未完成前結束時，Harness 的 Hook 精準攔截該次退出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重新注入 (Re-inject)：在全新乾淨的 Context Window 中，重新注入原始 Prompt 與目標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狀態接續 (State Continuation)：新 Iteration 雖然 Context 是空的，卻能透過檔案系統讀取上一次的狀態與進度，強迫 Agent 不斷推進直到達成驗證目標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規劃與自我驗證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模型透過 Prompting 注入規劃能力，將大目標分解為步驟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每一步完成後強制執行測試套件或自我評估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錯誤結果會回饋給模型進行修正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創造「反饋信號」— Agent 的自我改進機制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規劃 + 驗證 = 跨 Context Window 邊界的一致性保證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複合原語效應 (Compounding Primitives)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元件在此刻產生複利效應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046720" cy="640080"/>
          </a:xfrm>
          <a:prstGeom prst="rect">
            <a:avLst/>
          </a:prstGeom>
          <a:solidFill>
            <a:srgbClr val="282C31"/>
          </a:solidFill>
          <a:ln w="6350">
            <a:solidFill>
              <a:srgbClr val="3A3F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4864" cy="64008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Filesystems + Git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508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作為跨 Session 追蹤進度與狀態的持久化底層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8046720" cy="640080"/>
          </a:xfrm>
          <a:prstGeom prst="rect">
            <a:avLst/>
          </a:prstGeom>
          <a:solidFill>
            <a:srgbClr val="282C31"/>
          </a:solidFill>
          <a:ln w="6350">
            <a:solidFill>
              <a:srgbClr val="3A3F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86000"/>
            <a:ext cx="54864" cy="64008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86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Planning + Prompting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 Prompting 注入規劃，分解大目標為可驗證的步驟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solidFill>
            <a:srgbClr val="282C31"/>
          </a:solidFill>
          <a:ln w="6350">
            <a:solidFill>
              <a:srgbClr val="3A3F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063240"/>
            <a:ext cx="54864" cy="64008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63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Self-Verification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3063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每步完成後強制執行測試驗證，確保不偏離軌道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282C31"/>
          </a:solidFill>
          <a:ln w="6350">
            <a:solidFill>
              <a:srgbClr val="3A3F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40480"/>
            <a:ext cx="54864" cy="64008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40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Ralph Loop + Hooks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840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攔截提早退出，強制在全新 Context 中繼續推進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474720" y="1874520"/>
            <a:ext cx="2194560" cy="0"/>
          </a:xfrm>
          <a:prstGeom prst="line">
            <a:avLst/>
          </a:prstGeom>
          <a:noFill/>
          <a:ln w="25400">
            <a:solidFill>
              <a:srgbClr val="D48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模型與 Harness 的共同演進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Co-evolution &amp; The Overfitting Paradox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雙螺旋演化：共同訓練的反饋迴圈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現今頂級的 Agent 產品（如 Claude Code, Codex）都在訓練階段將 Harness 納入迴圈。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反饋迴圈的四個階段：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Harness 工程師發現實用的新機制（如 Bash 執行、子代理平行化）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將這些機制加入 Harness 架構中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利用這個特定的 Harness 來訓練下一代模型（Post-training）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模型在該 Harness 內的表現變得極度強大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演化的代價與 Harness 優化的巨大紅利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過度擬合悖論 (Overfitting Paradox)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與特定 Harness 共同訓練損害泛化能力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模型過度依賴特定的編輯邏輯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更改工具邏輯反而導致性能下降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 Codex 過度依賴 apply_patch 格式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Terminal Bench 2.0 的啟示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4.6 在預設 Harness 下只排名 Top 30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透過優化 Harness 就躍升至 Top 5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無需更動模型本身的 Harness 工程紅利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最強模型不一定需要配備其預設 Harness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201168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「最佳的 Harness 未必是模型被 Post-trained 時所搭配的那一個。」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Terminal Bench 2.0 實驗結論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Harness 優化的實踐啟示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不要盲目使用官方預設的 Harness 配置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針對特定任務優化 Harness 設計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工程的 ROI 可能遠超模型升級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目前「性價比最高」的 Agent 性能提升手段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 Harness 工程，而非只追求更大的模型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474720" y="1874520"/>
            <a:ext cx="2194560" cy="0"/>
          </a:xfrm>
          <a:prstGeom prst="line">
            <a:avLst/>
          </a:prstGeom>
          <a:noFill/>
          <a:ln w="25400">
            <a:solidFill>
              <a:srgbClr val="D48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結語與未來展望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工程的前沿探索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責任遷移：Harness 功能被模型吸收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隨著模型原生能力提升，部分 Harness 功能將被模型吸收：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規劃能力 — 模型自身的 Chain-of-Thought 越來越強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自我驗證 — 模型開始內建反思與修正機制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長效一致性 — 更長的 Context Window 與更好的注意力機制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 Harness 工程不會消失 — 它將進化到解決更複雜的系統性問題。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就像 Prompt Engineering：模型越強，好的 Prompt 依然有價值。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Harness 工程的三大未來前沿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97480" cy="365760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97480" cy="54864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大規模平行協作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(Parallel Orchestration)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調度數以百計的 Agent 在同一個龐大 Codebase 上同步工作而不產生衝突。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編排邏輯的終極挑戰。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97480" cy="365760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05840"/>
            <a:ext cx="2697480" cy="54864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188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自我修復遙測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(Self-analyzing Traces)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賦予 Agent 分析自身執行日誌的能力。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自動識別並修復 Harness 層級的失敗模式。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97480" cy="3657600"/>
          </a:xfrm>
          <a:prstGeom prst="rect">
            <a:avLst/>
          </a:prstGeom>
          <a:solidFill>
            <a:srgbClr val="282C31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05840"/>
            <a:ext cx="2697480" cy="54864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188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JIT 動態組裝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(Just-In-Time Assembly)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178308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捨棄靜態預設，Harness 能根據當下任務需求，即時動態地組裝最適用的工具與脈絡。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完整的 Agent Harness 藍圖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74720" y="1828800"/>
            <a:ext cx="2194560" cy="1097280"/>
          </a:xfrm>
          <a:prstGeom prst="rect">
            <a:avLst/>
          </a:prstGeom>
          <a:solidFill>
            <a:srgbClr val="282C31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18288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Core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模型核心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194560" cy="822960"/>
          </a:xfrm>
          <a:prstGeom prst="rect">
            <a:avLst/>
          </a:prstGeom>
          <a:solidFill>
            <a:srgbClr val="282C31"/>
          </a:solidFill>
          <a:ln w="19050">
            <a:solidFill>
              <a:srgbClr val="D48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Filesystem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檔案系統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0" y="914400"/>
            <a:ext cx="2194560" cy="822960"/>
          </a:xfrm>
          <a:prstGeom prst="rect">
            <a:avLst/>
          </a:prstGeom>
          <a:solidFill>
            <a:srgbClr val="282C31"/>
          </a:solidFill>
          <a:ln w="19050">
            <a:solidFill>
              <a:srgbClr val="D488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9144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 &amp; Search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記憶與搜尋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291840"/>
            <a:ext cx="2194560" cy="822960"/>
          </a:xfrm>
          <a:prstGeom prst="rect">
            <a:avLst/>
          </a:prstGeom>
          <a:solidFill>
            <a:srgbClr val="282C31"/>
          </a:solidFill>
          <a:ln w="19050">
            <a:solidFill>
              <a:srgbClr val="D488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291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Bash &amp; 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程式碼執行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3291840"/>
            <a:ext cx="2194560" cy="822960"/>
          </a:xfrm>
          <a:prstGeom prst="rect">
            <a:avLst/>
          </a:prstGeom>
          <a:solidFill>
            <a:srgbClr val="282C31"/>
          </a:solidFill>
          <a:ln w="19050">
            <a:solidFill>
              <a:srgbClr val="D48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291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Sandboxes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沙盒環境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3840480"/>
            <a:ext cx="2194560" cy="822960"/>
          </a:xfrm>
          <a:prstGeom prst="rect">
            <a:avLst/>
          </a:prstGeom>
          <a:solidFill>
            <a:srgbClr val="282C31"/>
          </a:solidFill>
          <a:ln w="19050">
            <a:solidFill>
              <a:srgbClr val="E8A6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3840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6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Orchestration &amp; Defense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A6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編排與防禦機制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1325880"/>
            <a:ext cx="914400" cy="0"/>
          </a:xfrm>
          <a:prstGeom prst="line">
            <a:avLst/>
          </a:prstGeom>
          <a:noFill/>
          <a:ln w="12700">
            <a:solidFill>
              <a:srgbClr val="3A3F45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669280" y="1325880"/>
            <a:ext cx="914400" cy="0"/>
          </a:xfrm>
          <a:prstGeom prst="line">
            <a:avLst/>
          </a:prstGeom>
          <a:noFill/>
          <a:ln w="12700">
            <a:solidFill>
              <a:srgbClr val="3A3F45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560320" y="3703320"/>
            <a:ext cx="914400" cy="0"/>
          </a:xfrm>
          <a:prstGeom prst="line">
            <a:avLst/>
          </a:prstGeom>
          <a:noFill/>
          <a:ln w="12700">
            <a:solidFill>
              <a:srgbClr val="3A3F45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669280" y="3703320"/>
            <a:ext cx="914400" cy="0"/>
          </a:xfrm>
          <a:prstGeom prst="line">
            <a:avLst/>
          </a:prstGeom>
          <a:noFill/>
          <a:ln w="12700">
            <a:solidFill>
              <a:srgbClr val="3A3F45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 Harness 元件相互協作，共同構建圍繞模型智能的完整作業系統。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關鍵要點回顧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solidFill>
            <a:srgbClr val="282C31"/>
          </a:solidFill>
          <a:ln w="6350">
            <a:solidFill>
              <a:srgbClr val="3A3F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51560"/>
            <a:ext cx="54864" cy="50292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= Model + Harness — 模型提供智能，Harness 提供能力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73352"/>
            <a:ext cx="7863840" cy="502920"/>
          </a:xfrm>
          <a:prstGeom prst="rect">
            <a:avLst/>
          </a:prstGeom>
          <a:solidFill>
            <a:srgbClr val="282C31"/>
          </a:solidFill>
          <a:ln w="6350">
            <a:solidFill>
              <a:srgbClr val="3A3F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73352"/>
            <a:ext cx="54864" cy="50292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7335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67335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五大器官：檔案系統、Bash 執行、沙盒、記憶搜尋、脈絡管理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295144"/>
            <a:ext cx="7863840" cy="502920"/>
          </a:xfrm>
          <a:prstGeom prst="rect">
            <a:avLst/>
          </a:prstGeom>
          <a:solidFill>
            <a:srgbClr val="282C31"/>
          </a:solidFill>
          <a:ln w="6350">
            <a:solidFill>
              <a:srgbClr val="3A3F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95144"/>
            <a:ext cx="54864" cy="50292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29514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2951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是稀缺資源 — Harness 是脈絡工程的交付機制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916936"/>
            <a:ext cx="7863840" cy="502920"/>
          </a:xfrm>
          <a:prstGeom prst="rect">
            <a:avLst/>
          </a:prstGeom>
          <a:solidFill>
            <a:srgbClr val="282C31"/>
          </a:solidFill>
          <a:ln w="6350">
            <a:solidFill>
              <a:srgbClr val="3A3F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916936"/>
            <a:ext cx="54864" cy="50292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91693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91693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長效任務靠 Filesystem + Verification + Ralph Loop 三位一體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538728"/>
            <a:ext cx="7863840" cy="502920"/>
          </a:xfrm>
          <a:prstGeom prst="rect">
            <a:avLst/>
          </a:prstGeom>
          <a:solidFill>
            <a:srgbClr val="282C31"/>
          </a:solidFill>
          <a:ln w="6350">
            <a:solidFill>
              <a:srgbClr val="3A3F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538728"/>
            <a:ext cx="54864" cy="50292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53872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53872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優化的 ROI 可能遠超模型升級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solidFill>
            <a:srgbClr val="282C31"/>
          </a:solidFill>
          <a:ln w="6350">
            <a:solidFill>
              <a:srgbClr val="3A3F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160520"/>
            <a:ext cx="54864" cy="50292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1605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41605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未來方向：平行協作、自我修復遙測、JIT 動態組裝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E21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488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系統設計的終極奧義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「模型蘊含了純粹的智能，</a:t>
            </a:r>
            <a:endParaRPr lang="en-US" sz="17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 Harness 是將該智能轉化為現實價值的系統引擎。」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致更完美的 Harness 工程，與更強大的 Agents。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1602</Words>
  <Application>Microsoft Macintosh PowerPoint</Application>
  <PresentationFormat>如螢幕大小 (16:9)</PresentationFormat>
  <Paragraphs>515</Paragraphs>
  <Slides>56</Slides>
  <Notes>56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56</vt:i4>
      </vt:variant>
    </vt:vector>
  </HeadingPairs>
  <TitlesOfParts>
    <vt:vector size="59" baseType="lpstr">
      <vt:lpstr>Arial</vt:lpstr>
      <vt:lpstr>Arial Black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解剖 Agent Harness</dc:title>
  <dc:subject>PptxGenJS Presentation</dc:subject>
  <dc:creator>Josh</dc:creator>
  <cp:lastModifiedBy>Josh Hu</cp:lastModifiedBy>
  <cp:revision>3</cp:revision>
  <dcterms:created xsi:type="dcterms:W3CDTF">2026-03-31T15:32:19Z</dcterms:created>
  <dcterms:modified xsi:type="dcterms:W3CDTF">2026-03-31T16:20:58Z</dcterms:modified>
</cp:coreProperties>
</file>