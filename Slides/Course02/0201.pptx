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B54E-A7FE-C2C0-3D68-F1096A49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39A90-005B-0CD9-BA8A-5EE7F654FDFC}"/>
              </a:ext>
            </a:extLst>
          </p:cNvPr>
          <p:cNvSpPr txBox="1"/>
          <p:nvPr/>
        </p:nvSpPr>
        <p:spPr>
          <a:xfrm>
            <a:off x="4124077" y="182880"/>
            <a:ext cx="3707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3C2D1E"/>
                </a:solidFill>
                <a:latin typeface="Microsoft YaHei"/>
              </a:rPr>
              <a:t>課程大綱與目標</a:t>
            </a:r>
            <a:endParaRPr sz="3600" b="1" i="0" dirty="0">
              <a:solidFill>
                <a:srgbClr val="3C2D1E"/>
              </a:solidFill>
              <a:latin typeface="Microsoft YaHei"/>
            </a:endParaRP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43E5B64-9D75-3C52-BED5-3E24006F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9" y="987729"/>
            <a:ext cx="6824870" cy="56873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596792E-3763-B3E9-0C64-A1170BC5B1E8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0FEB6E-6FC5-39B3-06CD-DCF1B6C475AC}"/>
              </a:ext>
            </a:extLst>
          </p:cNvPr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823D45-66AD-5171-430C-6F45B21FFEBD}"/>
              </a:ext>
            </a:extLst>
          </p:cNvPr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P2</a:t>
            </a:r>
          </a:p>
        </p:txBody>
      </p:sp>
      <p:sp>
        <p:nvSpPr>
          <p:cNvPr id="3" name="箭號: 向右 2">
            <a:extLst>
              <a:ext uri="{FF2B5EF4-FFF2-40B4-BE49-F238E27FC236}">
                <a16:creationId xmlns:a16="http://schemas.microsoft.com/office/drawing/2014/main" id="{212A4562-13B7-B355-D799-9181323BC64C}"/>
              </a:ext>
            </a:extLst>
          </p:cNvPr>
          <p:cNvSpPr/>
          <p:nvPr/>
        </p:nvSpPr>
        <p:spPr>
          <a:xfrm>
            <a:off x="3107635" y="1855304"/>
            <a:ext cx="470452" cy="2915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805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課程大綱與目標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4742158" cy="39517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645920"/>
            <a:ext cx="621792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645920"/>
            <a:ext cx="91440" cy="109728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783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理論深度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1488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從底層的代理架構論、上下文動力學，到高層級的社會經濟影響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926080"/>
            <a:ext cx="621792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0" y="292608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30632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框架建立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4290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建立完整的理論框架，讓開發者能從更高維度審視 AI 時代的工程實踐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4206240"/>
            <a:ext cx="621792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03520" y="4206240"/>
            <a:ext cx="91440" cy="109728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77840" y="43434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064"/>
                </a:solidFill>
                <a:latin typeface="Microsoft YaHei"/>
              </a:rPr>
              <a:t>認知升級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7091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645037"/>
                </a:solidFill>
                <a:latin typeface="Microsoft YaHei"/>
              </a:rPr>
              <a:t>從技術操作者轉變為系統架構師與意圖策展人</a:t>
            </a:r>
            <a:endParaRPr sz="1600" b="0" i="0" dirty="0">
              <a:solidFill>
                <a:srgbClr val="645037"/>
              </a:solidFill>
              <a:latin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A2B"/>
                </a:solidFill>
                <a:latin typeface="Microsoft YaHei"/>
              </a:rPr>
              <a:t>2026 VIBE CODING 理論體系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C2D1E"/>
                </a:solidFill>
                <a:latin typeface="Microsoft YaHei"/>
              </a:rPr>
              <a:t>軟體工程的範式轉移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5037"/>
                </a:solidFill>
                <a:latin typeface="Microsoft YaHei"/>
              </a:rPr>
              <a:t>模組一：從指令到意圖的哲學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 err="1">
                <a:solidFill>
                  <a:srgbClr val="645037"/>
                </a:solidFill>
                <a:latin typeface="Microsoft YaHei"/>
              </a:rPr>
              <a:t>這不僅是工具的升級，而是人類與機器協作關係的本質轉變</a:t>
            </a:r>
            <a:r>
              <a:rPr sz="1800" b="0" i="0" dirty="0">
                <a:solidFill>
                  <a:srgbClr val="645037"/>
                </a:solidFill>
                <a:latin typeface="Microsoft Ya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5669280" cy="82296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91440" cy="82296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 dirty="0">
                <a:solidFill>
                  <a:srgbClr val="8B5A2B"/>
                </a:solidFill>
                <a:latin typeface="Microsoft YaHei"/>
              </a:rPr>
              <a:t>「</a:t>
            </a:r>
            <a:r>
              <a:rPr sz="2200" b="0" i="1" dirty="0" err="1">
                <a:solidFill>
                  <a:srgbClr val="8B5A2B"/>
                </a:solidFill>
                <a:latin typeface="Microsoft YaHei"/>
              </a:rPr>
              <a:t>我們不寫程式，我們策劃現實</a:t>
            </a:r>
            <a:r>
              <a:rPr sz="2200" b="0" i="1" dirty="0">
                <a:solidFill>
                  <a:srgbClr val="8B5A2B"/>
                </a:solidFill>
                <a:latin typeface="Microsoft YaHei"/>
              </a:rPr>
              <a:t>。」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4846320" cy="38770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軟體工程的第四次浪潮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每一代浪潮都在解決「如何隱藏不必要的複雜性」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029200" cy="40233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0" y="1627632"/>
            <a:ext cx="182880" cy="182880"/>
          </a:xfrm>
          <a:prstGeom prst="ellipse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第一波：機器碼時代 (1950s)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901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硬體對話，人類是機器的僕人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2450592"/>
            <a:ext cx="182880" cy="182880"/>
          </a:xfrm>
          <a:prstGeom prst="ellipse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0" y="2377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第二波：高級語言時代 (1970s)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7249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邏輯抽象，開始脫離硬體細節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3273552"/>
            <a:ext cx="182880" cy="182880"/>
          </a:xfrm>
          <a:prstGeom prst="ellipse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第三波：框架化時代 (2000s)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5478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模組複用，減少重複勞動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4096512"/>
            <a:ext cx="182880" cy="18288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60" y="4023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第四波：意圖化時代 (2026)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370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人類只需定義目標，AI 實現細節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5029200"/>
            <a:ext cx="5943600" cy="77724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0" y="5029200"/>
            <a:ext cx="91440" cy="77724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0" y="5166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B5A2B"/>
                </a:solidFill>
                <a:latin typeface="Microsoft YaHei"/>
              </a:rPr>
              <a:t>「進步的本質，就是讓更少的人能做更多的事。」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Vibe Coding 的理論定義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非確定性輸入轉確定性輸出的過程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303520" cy="42428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1554480"/>
            <a:ext cx="5760720" cy="100584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0" y="1554480"/>
            <a:ext cx="91440" cy="100584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064"/>
                </a:solidFill>
                <a:latin typeface="Microsoft YaHei"/>
              </a:rPr>
              <a:t>人類直覺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011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開發者提供模糊但具備強烈風格特徵的語義場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697480"/>
            <a:ext cx="5760720" cy="100584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0" y="2697480"/>
            <a:ext cx="91440" cy="100584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2834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 err="1">
                <a:solidFill>
                  <a:srgbClr val="B48C5A"/>
                </a:solidFill>
                <a:latin typeface="Microsoft YaHei"/>
              </a:rPr>
              <a:t>語義特徵</a:t>
            </a:r>
            <a:endParaRPr sz="1800" b="1" i="0" dirty="0">
              <a:solidFill>
                <a:srgbClr val="B48C5A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0" y="3154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645037"/>
                </a:solidFill>
                <a:latin typeface="Microsoft YaHei"/>
              </a:rPr>
              <a:t>透過自然語言傳達設計意圖與系統約束</a:t>
            </a:r>
            <a:endParaRPr sz="1600" b="0" i="0" dirty="0">
              <a:solidFill>
                <a:srgbClr val="645037"/>
              </a:solidFill>
              <a:latin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0" y="3840480"/>
            <a:ext cx="5760720" cy="100584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0" y="3840480"/>
            <a:ext cx="91440" cy="100584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397764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1800" b="1" i="0" dirty="0">
                <a:solidFill>
                  <a:srgbClr val="8B5A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機</a:t>
            </a:r>
            <a:r>
              <a:rPr sz="1800" b="1" i="0" dirty="0" err="1">
                <a:solidFill>
                  <a:srgbClr val="8B5A2B"/>
                </a:solidFill>
                <a:latin typeface="Microsoft YaHei"/>
              </a:rPr>
              <a:t>率邏輯</a:t>
            </a:r>
            <a:endParaRPr sz="1800" b="1" i="0" dirty="0">
              <a:solidFill>
                <a:srgbClr val="8B5A2B"/>
              </a:solidFill>
              <a:latin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0" y="4297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645037"/>
                </a:solidFill>
                <a:latin typeface="Microsoft YaHei"/>
              </a:rPr>
              <a:t>AI </a:t>
            </a:r>
            <a:r>
              <a:rPr sz="1600" b="0" i="0" dirty="0" err="1">
                <a:solidFill>
                  <a:srgbClr val="645037"/>
                </a:solidFill>
                <a:latin typeface="Microsoft YaHei"/>
              </a:rPr>
              <a:t>透過大規模推理將模糊意圖坍縮為具體邏輯路徑</a:t>
            </a:r>
            <a:endParaRPr sz="1600" b="0" i="0" dirty="0">
              <a:solidFill>
                <a:srgbClr val="645037"/>
              </a:solidFill>
              <a:latin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0" y="5120640"/>
            <a:ext cx="5760720" cy="82296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0" y="523036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 err="1">
                <a:solidFill>
                  <a:srgbClr val="645037"/>
                </a:solidFill>
                <a:latin typeface="Microsoft YaHei"/>
              </a:rPr>
              <a:t>三者交集處即為</a:t>
            </a:r>
            <a:r>
              <a:rPr sz="1500" b="0" i="0" dirty="0">
                <a:solidFill>
                  <a:srgbClr val="645037"/>
                </a:solidFill>
                <a:latin typeface="Microsoft YaHei"/>
              </a:rPr>
              <a:t> Vibe Coding </a:t>
            </a:r>
            <a:r>
              <a:rPr sz="1500" b="0" i="0" dirty="0" err="1">
                <a:solidFill>
                  <a:srgbClr val="645037"/>
                </a:solidFill>
                <a:latin typeface="Microsoft YaHei"/>
              </a:rPr>
              <a:t>的運作核心</a:t>
            </a:r>
            <a:r>
              <a:rPr sz="1500" b="0" i="0" dirty="0">
                <a:solidFill>
                  <a:srgbClr val="645037"/>
                </a:solidFill>
                <a:latin typeface="Microsoft YaHei"/>
              </a:rPr>
              <a:t>
</a:t>
            </a:r>
            <a:r>
              <a:rPr sz="1500" b="0" i="0" dirty="0" err="1">
                <a:solidFill>
                  <a:srgbClr val="645037"/>
                </a:solidFill>
                <a:latin typeface="Microsoft YaHei"/>
              </a:rPr>
              <a:t>將抽象的「氛圍」轉化為精確的程式碼</a:t>
            </a:r>
            <a:endParaRPr sz="1500" b="0" i="0" dirty="0">
              <a:solidFill>
                <a:srgbClr val="645037"/>
              </a:solidFill>
              <a:latin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3C2D1E"/>
                </a:solidFill>
                <a:latin typeface="Microsoft YaHei"/>
              </a:rPr>
              <a:t>Andrej </a:t>
            </a:r>
            <a:r>
              <a:rPr sz="3200" b="1" i="0" dirty="0" err="1">
                <a:solidFill>
                  <a:srgbClr val="3C2D1E"/>
                </a:solidFill>
                <a:latin typeface="Microsoft YaHei"/>
              </a:rPr>
              <a:t>Karpathy</a:t>
            </a:r>
            <a:r>
              <a:rPr sz="3200" b="1" i="0" dirty="0">
                <a:solidFill>
                  <a:srgbClr val="3C2D1E"/>
                </a:solidFill>
                <a:latin typeface="Microsoft YaHei"/>
              </a:rPr>
              <a:t> </a:t>
            </a:r>
            <a:r>
              <a:rPr sz="3200" b="1" i="0" dirty="0" err="1">
                <a:solidFill>
                  <a:srgbClr val="3C2D1E"/>
                </a:solidFill>
                <a:latin typeface="Microsoft YaHei"/>
              </a:rPr>
              <a:t>的「</a:t>
            </a:r>
            <a:r>
              <a:rPr sz="3200" b="1" i="0" dirty="0" err="1">
                <a:solidFill>
                  <a:srgbClr val="3C2D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英</a:t>
            </a:r>
            <a:r>
              <a:rPr lang="zh-TW" altLang="en-US" sz="3200" b="1" i="0" dirty="0">
                <a:solidFill>
                  <a:srgbClr val="3C2D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語開發</a:t>
            </a:r>
            <a:r>
              <a:rPr sz="3200" b="1" i="0" dirty="0">
                <a:solidFill>
                  <a:srgbClr val="3C2D1E"/>
                </a:solidFill>
                <a:latin typeface="Microsoft YaHei"/>
              </a:rPr>
              <a:t>」</a:t>
            </a:r>
            <a:r>
              <a:rPr sz="3200" b="1" i="0" dirty="0" err="1">
                <a:solidFill>
                  <a:srgbClr val="3C2D1E"/>
                </a:solidFill>
                <a:latin typeface="Microsoft YaHei"/>
              </a:rPr>
              <a:t>理論</a:t>
            </a:r>
            <a:endParaRPr sz="3200" b="1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當 LLM 具備足夠推理能力，自然語言即具備「編譯」功能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029200" cy="405580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0" y="1463040"/>
            <a:ext cx="594360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0" y="1463040"/>
            <a:ext cx="5943600" cy="73152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核心洞見：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人類只需負責定義高層級的系統約束，而細節則由 AI 作為底層編譯器自動優化。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2743200"/>
            <a:ext cx="2743200" cy="118872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2834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C2D1E"/>
                </a:solidFill>
                <a:latin typeface="Microsoft YaHei"/>
              </a:rPr>
              <a:t>傳統編譯器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語法 → 機器碼
規則明確，錯誤即停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43200"/>
            <a:ext cx="2926080" cy="11887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2834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A2B"/>
                </a:solidFill>
                <a:latin typeface="Microsoft YaHei"/>
              </a:rPr>
              <a:t>LLM 編譯器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00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意圖 → 程式碼
容錯推理，自動補全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4114800"/>
            <a:ext cx="5943600" cy="100584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0" y="4114800"/>
            <a:ext cx="91440" cy="100584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064"/>
                </a:solidFill>
                <a:latin typeface="Microsoft YaHei"/>
              </a:rPr>
              <a:t>意義：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72000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程式語言的學習曲線將被自然語言取代，進入「人人可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寫程式</a:t>
            </a:r>
            <a:r>
              <a:rPr sz="1600" b="0" i="0" dirty="0">
                <a:solidFill>
                  <a:srgbClr val="3C2D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」</a:t>
            </a:r>
            <a:r>
              <a:rPr sz="1600" b="0" i="0" dirty="0" err="1">
                <a:solidFill>
                  <a:srgbClr val="3C2D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的時代</a:t>
            </a:r>
            <a:endParaRPr sz="1600" b="0" i="0" dirty="0">
              <a:solidFill>
                <a:srgbClr val="3C2D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抽象層級的終極突破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從數十萬行程式碼縮減為幾頁 Spec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754880" cy="3803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463040"/>
            <a:ext cx="6126480" cy="11887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463040"/>
            <a:ext cx="91440" cy="118872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核心概念：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5760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C2D1E"/>
                </a:solidFill>
                <a:latin typeface="Microsoft YaHei"/>
              </a:rPr>
              <a:t>Vibe Coding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代表了對底層實現細節的徹底放棄。正如我們不再關心記憶體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暫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存器，未來我們也將不再關心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 API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的具體語法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834640"/>
            <a:ext cx="6126480" cy="100584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29260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 err="1">
                <a:solidFill>
                  <a:srgbClr val="B48C5A"/>
                </a:solidFill>
                <a:latin typeface="Microsoft YaHei"/>
              </a:rPr>
              <a:t>關鍵轉變</a:t>
            </a:r>
            <a:r>
              <a:rPr sz="1800" b="1" i="0" dirty="0">
                <a:solidFill>
                  <a:srgbClr val="B48C5A"/>
                </a:solidFill>
                <a:latin typeface="Microsoft YaHei"/>
              </a:rPr>
              <a:t>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2918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這使人類能專注於「問題定義」本身，而非糾結於實現方式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4023360"/>
            <a:ext cx="6126480" cy="100584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41148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064"/>
                </a:solidFill>
                <a:latin typeface="Microsoft YaHei"/>
              </a:rPr>
              <a:t>類比：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4805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就像從彙編語言到高階語言，每次抽象都是生產力的飛躍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C2D1E"/>
                </a:solidFill>
                <a:latin typeface="Microsoft YaHei"/>
              </a:rPr>
              <a:t>軟體開發進化史 (I) - 符號時代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1950s-1970s：人類是機器的僕人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754880" cy="3803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463040"/>
            <a:ext cx="6126480" cy="1371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463040"/>
            <a:ext cx="91440" cy="1371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時代特徵：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程式設計是關於如何精確地控制硬體暫存器。語法的微小錯誤（符號出錯）會導致整個系統的毀滅。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3017520"/>
            <a:ext cx="2926080" cy="9144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8C5A"/>
                </a:solidFill>
                <a:latin typeface="Microsoft YaHei"/>
              </a:rPr>
              <a:t>打孔卡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47472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645037"/>
                </a:solidFill>
                <a:latin typeface="Microsoft YaHei"/>
              </a:rPr>
              <a:t>物理媒介</a:t>
            </a:r>
            <a:r>
              <a:rPr lang="zh-TW" altLang="en-US" sz="1400" b="0" i="0" dirty="0">
                <a:solidFill>
                  <a:srgbClr val="645037"/>
                </a:solidFill>
                <a:latin typeface="Microsoft YaHei"/>
              </a:rPr>
              <a:t>開發</a:t>
            </a:r>
            <a:endParaRPr sz="1400" b="0" i="0" dirty="0">
              <a:solidFill>
                <a:srgbClr val="645037"/>
              </a:solidFill>
              <a:latin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03920" y="3017520"/>
            <a:ext cx="2926080" cy="9144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310896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1600" b="1" i="0" dirty="0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組合</a:t>
            </a:r>
            <a:r>
              <a:rPr sz="1600" b="1" i="0" dirty="0" err="1">
                <a:solidFill>
                  <a:srgbClr val="B48C5A"/>
                </a:solidFill>
                <a:latin typeface="Microsoft YaHei"/>
              </a:rPr>
              <a:t>語言</a:t>
            </a:r>
            <a:endParaRPr sz="1600" b="1" i="0" dirty="0">
              <a:solidFill>
                <a:srgbClr val="B48C5A"/>
              </a:solidFill>
              <a:latin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0" y="347472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645037"/>
                </a:solidFill>
                <a:latin typeface="Microsoft YaHei"/>
              </a:rPr>
              <a:t>助記</a:t>
            </a:r>
            <a:r>
              <a:rPr sz="1400" b="0" i="0" dirty="0" err="1">
                <a:solidFill>
                  <a:srgbClr val="6450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符</a:t>
            </a:r>
            <a:r>
              <a:rPr lang="zh-TW" altLang="en-US" sz="1400" b="0" i="0" dirty="0">
                <a:solidFill>
                  <a:srgbClr val="6450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號開發</a:t>
            </a:r>
            <a:endParaRPr sz="1400" b="0" i="0" dirty="0">
              <a:solidFill>
                <a:srgbClr val="6450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03520" y="4114800"/>
            <a:ext cx="6126480" cy="9144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4114800"/>
            <a:ext cx="91440" cy="91440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42062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064"/>
                </a:solidFill>
                <a:latin typeface="Microsoft YaHei"/>
              </a:rPr>
              <a:t>核心挑戰：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5720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錯誤代價極高，開發效率極低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C2D1E"/>
                </a:solidFill>
                <a:latin typeface="Microsoft YaHei"/>
              </a:rPr>
              <a:t>軟體開發進化史 (II) - 邏輯時代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1980s-2010s：封裝與介面設計的興起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754880" cy="3803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463040"/>
            <a:ext cx="6126480" cy="1371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463040"/>
            <a:ext cx="91440" cy="1371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時代特徵：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重點轉向了封裝與介面設計。我們開始建立龐大的函式庫與框架，試圖透過減少重複勞動來提升效率。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3017520"/>
            <a:ext cx="2926080" cy="9144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8C5A"/>
                </a:solidFill>
                <a:latin typeface="Microsoft YaHei"/>
              </a:rPr>
              <a:t>物件導向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封裝繼承多態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3017520"/>
            <a:ext cx="2926080" cy="9144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8C5A"/>
                </a:solidFill>
                <a:latin typeface="Microsoft YaHei"/>
              </a:rPr>
              <a:t>設計模式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可複用解決方案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4114800"/>
            <a:ext cx="6126480" cy="9144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4114800"/>
            <a:ext cx="91440" cy="91440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42062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064"/>
                </a:solidFill>
                <a:latin typeface="Microsoft YaHei"/>
              </a:rPr>
              <a:t>核心挑戰：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5720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開發者仍深陷於「實現邏輯」的泥淖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C2D1E"/>
                </a:solidFill>
                <a:latin typeface="Microsoft YaHei"/>
              </a:rPr>
              <a:t>軟體開發進化史 (III) - 意圖時代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2026+：軟體開發成為「意圖的維護」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754880" cy="3803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463040"/>
            <a:ext cx="6126480" cy="1371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463040"/>
            <a:ext cx="91440" cy="1371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時代特徵：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程式碼不再是靜態檔案，而是隨需求動態生成的暫態產物。開發者的價值在於能否清晰、連貫地持有並傳達意圖。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3017520"/>
            <a:ext cx="2926080" cy="9144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8C5A"/>
                </a:solidFill>
                <a:latin typeface="Microsoft YaHei"/>
              </a:rPr>
              <a:t>動態生成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隨需即生程式碼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3017520"/>
            <a:ext cx="2926080" cy="9144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8C5A"/>
                </a:solidFill>
                <a:latin typeface="Microsoft YaHei"/>
              </a:rPr>
              <a:t>意圖驅動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47472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645037"/>
                </a:solidFill>
                <a:latin typeface="Microsoft YaHei"/>
              </a:rPr>
              <a:t>自然語言</a:t>
            </a:r>
            <a:r>
              <a:rPr lang="zh-TW" altLang="en-US" sz="1400" b="0" i="0" dirty="0">
                <a:solidFill>
                  <a:srgbClr val="6450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開發</a:t>
            </a:r>
            <a:endParaRPr sz="1400" b="0" i="0" dirty="0">
              <a:solidFill>
                <a:srgbClr val="6450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03520" y="4114800"/>
            <a:ext cx="6126480" cy="9144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4114800"/>
            <a:ext cx="91440" cy="91440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42062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064"/>
                </a:solidFill>
                <a:latin typeface="Microsoft YaHei"/>
              </a:rPr>
              <a:t>開發者角色：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5720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5037"/>
                </a:solidFill>
                <a:latin typeface="Microsoft YaHei"/>
              </a:rPr>
              <a:t>從「程式碼編寫者」到「意圖策展人」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認知負荷理論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Cognitive Load Theory：將語法負擔卸載給 AI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754880" cy="3803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463040"/>
            <a:ext cx="6126480" cy="11887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463040"/>
            <a:ext cx="91440" cy="118872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傳統開發者認知負載：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主要消耗在「語法檢索」與「邏輯除錯」，大腦被細節填滿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834640"/>
            <a:ext cx="6126480" cy="118872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0" y="2834640"/>
            <a:ext cx="91440" cy="118872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29260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Vibe Coding 認知負載：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3375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AI 承擔細節，人類進行「慢思考」，專注於系統架構與產品美學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4206240"/>
            <a:ext cx="6126480" cy="8229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434340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5037"/>
                </a:solidFill>
                <a:latin typeface="Microsoft YaHei"/>
              </a:rPr>
              <a:t>結果：人類大腦從「語法機器」解放為「策略引擎」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推理模型的湧現能力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Emergent Abilities：為什麼以前的 AI 做不到？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754880" cy="3803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463040"/>
            <a:ext cx="6126480" cy="11887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463040"/>
            <a:ext cx="91440" cy="118872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理論基礎：湧現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當模型參數量與算力達到臨界點，突然開始理解高度抽象的概念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834640"/>
            <a:ext cx="6126480" cy="118872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0" y="2834640"/>
            <a:ext cx="91440" cy="118872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29260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湧現能力包括：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3375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「幽默」、「簡約」、「安全性」等概念理解 → 使 Vibe 理解成為可能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4206240"/>
            <a:ext cx="6126480" cy="8229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434340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5037"/>
                </a:solidFill>
                <a:latin typeface="Microsoft YaHei"/>
              </a:rPr>
              <a:t>臨界點之後，模型不只執行指令，而是「理解意圖」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奇點時刻：推理成本的崩塌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當生產一千行程式碼的成本低於一美分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754880" cy="3803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463040"/>
            <a:ext cx="6126480" cy="11887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463040"/>
            <a:ext cx="91440" cy="118872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傳統計價模式失效：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「按程式碼行數計費」或「工時衡量」將徹底失效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834640"/>
            <a:ext cx="6126480" cy="118872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0" y="2834640"/>
            <a:ext cx="91440" cy="118872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29260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價值鏈轉移：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3375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從「產出」轉向「判斷與篩選」— 誰能識別好的輸出？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4206240"/>
            <a:ext cx="6126480" cy="8229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434340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5037"/>
                </a:solidFill>
                <a:latin typeface="Microsoft YaHei"/>
              </a:rPr>
              <a:t>未來的稀缺資源：品味、判斷力、問題定義能力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開發者的角色轉變：Curator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策展人：選取最優的 AI 輸出並進行整合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754880" cy="3803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463040"/>
            <a:ext cx="6126480" cy="11887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463040"/>
            <a:ext cx="91440" cy="118872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策展人類比：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策展人不需要親自畫每一幅畫，但他必須知道哪幅畫符合主題、如何排列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834640"/>
            <a:ext cx="6126480" cy="118872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0" y="2834640"/>
            <a:ext cx="91440" cy="118872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29260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Vibe Coder 的工作：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3375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軟體的策展人 — 負責選取最優的 AI 輸出並進行整合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4206240"/>
            <a:ext cx="6126480" cy="8229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434340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5037"/>
                </a:solidFill>
                <a:latin typeface="Microsoft YaHei"/>
              </a:rPr>
              <a:t>核心能力：審美、判斷、系統思維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Vibe 的精確性悖論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Precision Paradox：不精確的語言如何產出精確邏輯？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754880" cy="3803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463040"/>
            <a:ext cx="6126480" cy="11887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463040"/>
            <a:ext cx="91440" cy="118872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悖論核心：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為什麼不精確的自然語言能產出精確的邏輯程式碼？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834640"/>
            <a:ext cx="6126480" cy="118872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0" y="2834640"/>
            <a:ext cx="91440" cy="118872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29260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答案：自我驗證閉環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3375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AI Agent 透過反覆測試將模糊的意圖收斂至精確的可運行狀態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4206240"/>
            <a:ext cx="6126480" cy="8229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434340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5037"/>
                </a:solidFill>
                <a:latin typeface="Microsoft YaHei"/>
              </a:rPr>
              <a:t>關鍵：從「模糊雲朵」通過「AI 稜鏡」變成「銳利射線」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模組一小結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四個關鍵詞：意圖、抽象、認知、範式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754880" cy="3803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463040"/>
            <a:ext cx="6126480" cy="1371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463040"/>
            <a:ext cx="91440" cy="1371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模組一結論：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軟體工程正在從一門「技術科學」轉向「認知與語義科學」。我們正在學會如何與具備高度智慧的非人類實體共事。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3017520"/>
            <a:ext cx="6126480" cy="109728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核心轉變：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520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從「編寫程式碼」到「策劃意圖」
從「實現細節」到「定義目標」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4297680"/>
            <a:ext cx="6126480" cy="7315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03520" y="4297680"/>
            <a:ext cx="91440" cy="73152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44348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A064"/>
                </a:solidFill>
                <a:latin typeface="Microsoft YaHei"/>
              </a:rPr>
              <a:t>下一模組：2026 代理型環境架構論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模組一：範式轉移哲學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563</Words>
  <Application>Microsoft Office PowerPoint</Application>
  <PresentationFormat>寬螢幕</PresentationFormat>
  <Paragraphs>155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Microsoft YaHei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joshhu</cp:lastModifiedBy>
  <cp:revision>11</cp:revision>
  <dcterms:created xsi:type="dcterms:W3CDTF">2013-01-27T09:14:16Z</dcterms:created>
  <dcterms:modified xsi:type="dcterms:W3CDTF">2026-01-20T15:57:56Z</dcterms:modified>
  <cp:category/>
</cp:coreProperties>
</file>