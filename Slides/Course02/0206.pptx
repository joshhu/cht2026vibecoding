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B54E-A7FE-C2C0-3D68-F1096A49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39A90-005B-0CD9-BA8A-5EE7F654FDFC}"/>
              </a:ext>
            </a:extLst>
          </p:cNvPr>
          <p:cNvSpPr txBox="1"/>
          <p:nvPr/>
        </p:nvSpPr>
        <p:spPr>
          <a:xfrm>
            <a:off x="4124077" y="182880"/>
            <a:ext cx="3707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3C2D1E"/>
                </a:solidFill>
                <a:latin typeface="Microsoft YaHei"/>
              </a:rPr>
              <a:t>課程大綱與目標</a:t>
            </a:r>
            <a:endParaRPr sz="3600" b="1" i="0" dirty="0">
              <a:solidFill>
                <a:srgbClr val="3C2D1E"/>
              </a:solidFill>
              <a:latin typeface="Microsoft YaHei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43E5B64-9D75-3C52-BED5-3E24006F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850569"/>
            <a:ext cx="6824870" cy="568739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96792E-3763-B3E9-0C64-A1170BC5B1E8}"/>
              </a:ext>
            </a:extLst>
          </p:cNvPr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0FEB6E-6FC5-39B3-06CD-DCF1B6C475AC}"/>
              </a:ext>
            </a:extLst>
          </p:cNvPr>
          <p:cNvSpPr txBox="1"/>
          <p:nvPr/>
        </p:nvSpPr>
        <p:spPr>
          <a:xfrm>
            <a:off x="731520" y="653796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模組</a:t>
            </a:r>
            <a:r>
              <a:rPr lang="zh-TW" altLang="en-US" sz="1100" b="0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</a:t>
            </a:r>
            <a:r>
              <a:rPr sz="1100" b="0" i="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zh-TW" altLang="en-US" sz="1100" dirty="0">
                <a:solidFill>
                  <a:srgbClr val="B48C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代理型環境架構論</a:t>
            </a:r>
            <a:endParaRPr sz="1100" b="0" i="0" dirty="0">
              <a:solidFill>
                <a:srgbClr val="B48C5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823D45-66AD-5171-430C-6F45B21FFEBD}"/>
              </a:ext>
            </a:extLst>
          </p:cNvPr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P2</a:t>
            </a:r>
          </a:p>
        </p:txBody>
      </p:sp>
      <p:sp>
        <p:nvSpPr>
          <p:cNvPr id="3" name="箭號: 向右 2">
            <a:extLst>
              <a:ext uri="{FF2B5EF4-FFF2-40B4-BE49-F238E27FC236}">
                <a16:creationId xmlns:a16="http://schemas.microsoft.com/office/drawing/2014/main" id="{212A4562-13B7-B355-D799-9181323BC64C}"/>
              </a:ext>
            </a:extLst>
          </p:cNvPr>
          <p:cNvSpPr/>
          <p:nvPr/>
        </p:nvSpPr>
        <p:spPr>
          <a:xfrm>
            <a:off x="3110120" y="5050498"/>
            <a:ext cx="470452" cy="2915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05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Microsoft YaHei"/>
              </a:rPr>
              <a:t>2026 VIBE CODING 理論體系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C2D1E"/>
                </a:solidFill>
                <a:latin typeface="Microsoft YaHei"/>
              </a:rPr>
              <a:t>社會與經濟影響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模組六：當程式碼生成變得極其廉價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45037"/>
                </a:solidFill>
                <a:latin typeface="Microsoft YaHei"/>
              </a:rPr>
              <a:t>軟體邊際成本趨近於零的深遠後果。
未來的價值將流向「獨特的數據」與「對用戶需求的精確洞察」。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91440" cy="9144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B5A2B"/>
                </a:solidFill>
                <a:latin typeface="Microsoft YaHei"/>
              </a:rPr>
              <a:t>「程式碼的價值坍縮，意圖的價值飆升」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軟體邊際成本趨近於零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經濟學視角的分析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供給曲線右移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生產同樣功能的成本大幅降低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價格下降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軟體開發的定價能力減弱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差異化競爭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純粹的技術實現不再是護城河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價值轉移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從「生產」轉向「創意」和「洞察」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程式設計師職業的轉變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從「編碼者」到「意圖架構師」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傳統技能（貶值）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語法熟練度
• 手寫算法能力
• 框架使用經驗
• Bug 修復技巧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新興技能（升值）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意圖表達能力
• 系統架構思維
• AI 協作能力
• 業務理解深度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3C2D1E"/>
                </a:solidFill>
                <a:latin typeface="Microsoft YaHei"/>
              </a:rPr>
              <a:t>「</a:t>
            </a:r>
            <a:r>
              <a:rPr sz="3400" b="1" i="0" dirty="0" err="1">
                <a:solidFill>
                  <a:srgbClr val="3C2D1E"/>
                </a:solidFill>
                <a:latin typeface="Microsoft YaHei"/>
              </a:rPr>
              <a:t>人人</a:t>
            </a:r>
            <a:r>
              <a:rPr sz="3400" b="1" i="0" dirty="0" err="1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</a:t>
            </a:r>
            <a:r>
              <a:rPr lang="zh-TW" altLang="en-US" sz="3400" b="1" i="0" dirty="0">
                <a:solidFill>
                  <a:srgbClr val="3C2D1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程式開發</a:t>
            </a:r>
            <a:r>
              <a:rPr sz="3400" b="1" i="0" dirty="0">
                <a:solidFill>
                  <a:srgbClr val="3C2D1E"/>
                </a:solidFill>
                <a:latin typeface="Microsoft YaHei"/>
              </a:rPr>
              <a:t>」</a:t>
            </a:r>
            <a:r>
              <a:rPr sz="3400" b="1" i="0" dirty="0" err="1">
                <a:solidFill>
                  <a:srgbClr val="3C2D1E"/>
                </a:solidFill>
                <a:latin typeface="Microsoft YaHei"/>
              </a:rPr>
              <a:t>的時代</a:t>
            </a:r>
            <a:endParaRPr sz="3400" b="1" i="0" dirty="0">
              <a:solidFill>
                <a:srgbClr val="3C2D1E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程式設計民主化的影響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准入門檻降低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不懂程式語言也能創建軟體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創業加速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技術不再是創業的主要障礙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內部開發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業務人員可以自己實現想法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創意釋放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更多人可以將想法變成現實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軟體公司的商業模式變革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45037"/>
                </a:solidFill>
                <a:latin typeface="Microsoft YaHei"/>
              </a:rPr>
              <a:t>從賣</a:t>
            </a:r>
            <a:r>
              <a:rPr lang="zh-TW" altLang="en-US" sz="1400" b="0" i="0" dirty="0">
                <a:solidFill>
                  <a:srgbClr val="645037"/>
                </a:solidFill>
                <a:latin typeface="Microsoft YaHei"/>
              </a:rPr>
              <a:t>程式</a:t>
            </a:r>
            <a:r>
              <a:rPr sz="1400" b="0" i="0" dirty="0" err="1">
                <a:solidFill>
                  <a:srgbClr val="645037"/>
                </a:solidFill>
                <a:latin typeface="Microsoft YaHei"/>
              </a:rPr>
              <a:t>到賣解決方案</a:t>
            </a:r>
            <a:endParaRPr sz="14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產品模式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從一次性交付到持續服務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定價模式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從工時計費到價值計費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團隊結構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減少開發者，增加業務分析師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競爭優勢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數據資產和客戶關係成為核心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教育體系的調整需求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如何培養下一代程式設計師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應該減少的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純語法教學
• 手寫算法練習
• 框架堆砌
• 記憶式學習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應該增加的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系統設計思維
• 問題分析能力
• AI 協作實踐
• 溝通表達訓練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數據作為新石油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稀缺資源的轉移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800" b="1" i="0" dirty="0">
                <a:solidFill>
                  <a:srgbClr val="B48C5A"/>
                </a:solidFill>
                <a:latin typeface="Microsoft YaHei"/>
              </a:rPr>
              <a:t>程式</a:t>
            </a:r>
            <a:r>
              <a:rPr sz="1800" b="1" i="0" dirty="0" err="1">
                <a:solidFill>
                  <a:srgbClr val="B48C5A"/>
                </a:solidFill>
                <a:latin typeface="Microsoft YaHei"/>
              </a:rPr>
              <a:t>貶值</a:t>
            </a:r>
            <a:endParaRPr sz="1800" b="1" i="0" dirty="0">
              <a:solidFill>
                <a:srgbClr val="B48C5A"/>
              </a:solidFill>
              <a:latin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程式碼本身不再稀缺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數據升值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獨特的數據集成為核心資產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洞察升值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對用戶需求的理解更加珍貴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品味升值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知道「要做什麼」比「怎麼做」更重要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就業市場的兩極化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高端與低端的分化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頂層機會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架構師、意圖工程師薪資上漲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中層壓縮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純執行層面的需求減少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轉型需求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大量開發者需要技能升級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新職業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AI 訓練師、提示詞工程師、驗證專家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開源生態的演變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當 AI 可以輕易複製和改進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開源的挑戰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原創性價值降低
• 維護動力減弱
• 商業模式困難
• 貢獻激勵問題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開源的機會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AI 輔助維護
• 更快的迭代
• 更廣的參與
• 知識民主化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軟體安全的新挑戰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645037"/>
                </a:solidFill>
                <a:latin typeface="Microsoft YaHei"/>
              </a:rPr>
              <a:t>當任何人都能生成</a:t>
            </a:r>
            <a:r>
              <a:rPr lang="zh-TW" altLang="en-US" sz="1400" b="0" i="0" dirty="0">
                <a:solidFill>
                  <a:srgbClr val="645037"/>
                </a:solidFill>
                <a:latin typeface="Microsoft YaHei"/>
              </a:rPr>
              <a:t>程式</a:t>
            </a:r>
            <a:endParaRPr sz="1400" b="0" i="0" dirty="0">
              <a:solidFill>
                <a:srgbClr val="645037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攻擊門檻降低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惡意軟體更容易生成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防禦壓力增加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需要更強的自動化安全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責任歸屬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C2D1E"/>
                </a:solidFill>
                <a:latin typeface="Microsoft YaHei"/>
              </a:rPr>
              <a:t>AI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生成的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出問題誰負責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監管需求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可能需要新的法規框架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智慧財產權的模糊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AI 生成內容的所有權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原創性問題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C2D1E"/>
                </a:solidFill>
                <a:latin typeface="Microsoft YaHei"/>
              </a:rPr>
              <a:t>AI 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生成的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算原創嗎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訓練數據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使用開源</a:t>
            </a:r>
            <a:r>
              <a:rPr lang="zh-TW" altLang="en-US" sz="1600" b="0" i="0" dirty="0">
                <a:solidFill>
                  <a:srgbClr val="3C2D1E"/>
                </a:solidFill>
                <a:latin typeface="Microsoft YaHei"/>
              </a:rPr>
              <a:t>程式</a:t>
            </a:r>
            <a:r>
              <a:rPr sz="1600" b="0" i="0" dirty="0" err="1">
                <a:solidFill>
                  <a:srgbClr val="3C2D1E"/>
                </a:solidFill>
                <a:latin typeface="Microsoft YaHei"/>
              </a:rPr>
              <a:t>訓練是否合法</a:t>
            </a:r>
            <a:r>
              <a:rPr sz="1600" b="0" i="0" dirty="0">
                <a:solidFill>
                  <a:srgbClr val="3C2D1E"/>
                </a:solidFill>
                <a:latin typeface="Microsoft YaHei"/>
              </a:rPr>
              <a:t>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專利影響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軟體專利的意義改變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法律空白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現有法律框架需要更新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全球化與在地化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AI 打破語言和地理障礙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657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48C5A"/>
                </a:solidFill>
                <a:latin typeface="Microsoft YaHei"/>
              </a:rPr>
              <a:t>全球化加速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語言障礙降低
• 遠程協作更易
• 市場範圍擴大
• 人才競爭全球化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65760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91440" cy="3657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Microsoft YaHei"/>
              </a:rPr>
              <a:t>在地化機會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• 本地化更容易
• 小眾市場可行
• 文化特定解決方案
• 在地服務增值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初創企業的新機遇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小團隊大作為的時代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技術門檻降低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2-3 人團隊可以實現複雜系統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迭代速度提升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想法到產品的週期縮短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資金需求降低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技術開發成本大幅下降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創意為王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獨特的想法成為最大資產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C2D1E"/>
                </a:solidFill>
                <a:latin typeface="Microsoft YaHei"/>
              </a:rPr>
              <a:t>大公司的轉型壓力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5037"/>
                </a:solidFill>
                <a:latin typeface="Microsoft YaHei"/>
              </a:rPr>
              <a:t>規模優勢的重新定義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開發團隊精簡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不再需要大量開發人力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流程再造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傳統瀑布式開發失效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文化轉型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17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從控制到賦能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49240"/>
            <a:ext cx="10698480" cy="109728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5349240"/>
            <a:ext cx="91440" cy="1097280"/>
          </a:xfrm>
          <a:prstGeom prst="rect">
            <a:avLst/>
          </a:prstGeom>
          <a:solidFill>
            <a:srgbClr val="B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新競爭者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小團隊可能顛覆巨頭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P89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C2D1E"/>
                </a:solidFill>
                <a:latin typeface="Microsoft YaHei"/>
              </a:rPr>
              <a:t>模組六小結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13716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Microsoft YaHei"/>
              </a:rPr>
              <a:t>模組結論：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Vibe Coding 不只是技術革命，更是社會經濟結構的重塑。我們正在見證軟體產業的價值重新分配。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1188720"/>
          </a:xfrm>
          <a:prstGeom prst="rect">
            <a:avLst/>
          </a:prstGeom>
          <a:solidFill>
            <a:srgbClr val="EBE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48C5A"/>
                </a:solidFill>
                <a:latin typeface="Microsoft YaHei"/>
              </a:rPr>
              <a:t>核心轉變：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D1E"/>
                </a:solidFill>
                <a:latin typeface="Microsoft YaHei"/>
              </a:rPr>
              <a:t>從「技術壁壘」到「創意壁壘」
從「規模優勢」到「敏捷優勢」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91440" cy="731520"/>
          </a:xfrm>
          <a:prstGeom prst="rect">
            <a:avLst/>
          </a:prstGeom>
          <a:solidFill>
            <a:srgbClr val="C8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A064"/>
                </a:solidFill>
                <a:latin typeface="Microsoft YaHei"/>
              </a:rPr>
              <a:t>下一模組：倫理、偏見與人類未來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E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8C5A"/>
                </a:solidFill>
                <a:latin typeface="Microsoft YaHei"/>
              </a:rPr>
              <a:t>模組六：社會與經濟影響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5037"/>
                </a:solidFill>
                <a:latin typeface="Microsoft YaHei"/>
              </a:rPr>
              <a:t>P90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394</Words>
  <Application>Microsoft Office PowerPoint</Application>
  <PresentationFormat>寬螢幕</PresentationFormat>
  <Paragraphs>158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joshhu</cp:lastModifiedBy>
  <cp:revision>4</cp:revision>
  <dcterms:created xsi:type="dcterms:W3CDTF">2013-01-27T09:14:16Z</dcterms:created>
  <dcterms:modified xsi:type="dcterms:W3CDTF">2026-01-13T13:53:40Z</dcterms:modified>
  <cp:category/>
</cp:coreProperties>
</file>