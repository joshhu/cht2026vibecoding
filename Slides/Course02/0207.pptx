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B54E-A7FE-C2C0-3D68-F1096A49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39A90-005B-0CD9-BA8A-5EE7F654FDFC}"/>
              </a:ext>
            </a:extLst>
          </p:cNvPr>
          <p:cNvSpPr txBox="1"/>
          <p:nvPr/>
        </p:nvSpPr>
        <p:spPr>
          <a:xfrm>
            <a:off x="4124077" y="182880"/>
            <a:ext cx="3707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3C2D1E"/>
                </a:solidFill>
                <a:latin typeface="Microsoft YaHei"/>
              </a:rPr>
              <a:t>課程大綱與目標</a:t>
            </a:r>
            <a:endParaRPr sz="3600" b="1" i="0" dirty="0">
              <a:solidFill>
                <a:srgbClr val="3C2D1E"/>
              </a:solidFill>
              <a:latin typeface="Microsoft YaHei"/>
            </a:endParaRP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43E5B64-9D75-3C52-BED5-3E24006F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850569"/>
            <a:ext cx="6824870" cy="56873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596792E-3763-B3E9-0C64-A1170BC5B1E8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0FEB6E-6FC5-39B3-06CD-DCF1B6C475AC}"/>
              </a:ext>
            </a:extLst>
          </p:cNvPr>
          <p:cNvSpPr txBox="1"/>
          <p:nvPr/>
        </p:nvSpPr>
        <p:spPr>
          <a:xfrm>
            <a:off x="731520" y="653796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 err="1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模組</a:t>
            </a:r>
            <a:r>
              <a:rPr lang="zh-TW" altLang="en-US" sz="1100" b="0" i="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</a:t>
            </a:r>
            <a:r>
              <a:rPr sz="1100" b="0" i="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TW" altLang="en-US" sz="110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代理型環境架構論</a:t>
            </a:r>
            <a:endParaRPr sz="1100" b="0" i="0" dirty="0">
              <a:solidFill>
                <a:srgbClr val="B48C5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23D45-66AD-5171-430C-6F45B21FFEBD}"/>
              </a:ext>
            </a:extLst>
          </p:cNvPr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P2</a:t>
            </a:r>
          </a:p>
        </p:txBody>
      </p:sp>
      <p:sp>
        <p:nvSpPr>
          <p:cNvPr id="3" name="箭號: 向右 2">
            <a:extLst>
              <a:ext uri="{FF2B5EF4-FFF2-40B4-BE49-F238E27FC236}">
                <a16:creationId xmlns:a16="http://schemas.microsoft.com/office/drawing/2014/main" id="{212A4562-13B7-B355-D799-9181323BC64C}"/>
              </a:ext>
            </a:extLst>
          </p:cNvPr>
          <p:cNvSpPr/>
          <p:nvPr/>
        </p:nvSpPr>
        <p:spPr>
          <a:xfrm>
            <a:off x="3167270" y="5777119"/>
            <a:ext cx="470452" cy="2915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805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Microsoft YaHei"/>
              </a:rPr>
              <a:t>2026 VIBE CODING 理論體系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C2D1E"/>
                </a:solidFill>
                <a:latin typeface="Microsoft YaHei"/>
              </a:rPr>
              <a:t>倫理、偏見與人類未來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模組七：我們是否會失去「手寫算法」的能力？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這是一個嚴肅的社會命題。
我們必須在掌握 Vibe 的同時，保留對底層原理的審美與批判力。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91440" cy="9144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B5A2B"/>
                </a:solidFill>
                <a:latin typeface="Microsoft YaHei"/>
              </a:rPr>
              <a:t>「工具改變我們，而我們選擇如何被改變」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人類技能退化的風險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我們會失去什麼能力？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類比歷史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如同失去鑽木取火、心算能力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程式設計領域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手寫算法、深度除錯能力可能退化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認知依賴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對 AI 的過度依賴影響獨立思考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知識斷層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下一代可能不理解底層原理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能力退化 vs 能力進化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歷史的辯證觀點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退化的技能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記憶大量資訊
• 手工計算
• 手寫代碼
• 細節處理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進化的技能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C2D1E"/>
                </a:solidFill>
                <a:latin typeface="Microsoft YaHei"/>
              </a:rPr>
              <a:t>•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資訊檢索能力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
•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系統思維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
• AI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協作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
•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宏觀規劃</a:t>
            </a:r>
            <a:endParaRPr lang="en-US" sz="1600" b="0" i="0" dirty="0">
              <a:solidFill>
                <a:srgbClr val="3C2D1E"/>
              </a:solidFill>
              <a:latin typeface="Microsoft YaHei"/>
            </a:endParaRPr>
          </a:p>
          <a:p>
            <a:r>
              <a:rPr lang="en-US" altLang="zh-TW" sz="1600" dirty="0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TW" altLang="en-US" sz="1600" dirty="0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創意</a:t>
            </a:r>
            <a:endParaRPr lang="en-US" sz="1600" b="0" i="0" dirty="0">
              <a:solidFill>
                <a:srgbClr val="3C2D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AI 偏見的傳遞與放大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訓練數據的偏見問題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來源偏見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訓練數據反映歷史偏見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放大效應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可能放大而非消除偏見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隱蔽性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偏見可能不易被發現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影響範圍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大規模應用放大影響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責任與問責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當 AI 出錯時誰負責？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開發者責任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使用 AI 的人是否要負全責？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AI 公司責任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模型提供者的責任邊界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監管責任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政府應該扮演什麼角色？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集體責任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社會如何共同承擔風險？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透明度與可解釋性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AI 決策的「黑盒」問題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AI 決策難以解釋
• 出錯原因不明
• 無法審計
• 信任困難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努力方向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可解釋 AI 研究
• 決策軌跡記錄
• 人類可理解的說明
• 審計機制建立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人機協作的倫理邊界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何時應該堅持人類決策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關鍵決策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涉及安全、隱私的決策需人類參與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創意領域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藝術創作的人類價值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情感領域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不應取代人類情感連結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教育領域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學習過程的人類引導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保持批判性思維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不盲從 AI 的建議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質疑習慣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養成質疑 AI 輸出的習慣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理解原理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即使不手寫也要理解原理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獨立判斷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保持獨立思考的能力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定期練習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刻意練習非 AI 輔助的工作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人類獨特價值的堅守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AI 無法取代的人類特質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創造力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真正的創新仍來自人類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同理心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理解人類需求的深層能力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意義感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賦予工作意義的能力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責任感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承擔後果的道德責任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C2D1E"/>
                </a:solidFill>
                <a:latin typeface="Microsoft YaHei"/>
              </a:rPr>
              <a:t>結語：回歸人的本質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C2D1E"/>
                </a:solidFill>
                <a:latin typeface="Microsoft YaHei"/>
              </a:rPr>
              <a:t>軟體工程的終極目標不是寫程式碼，而是解決問題。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698480" cy="1371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91440" cy="1371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C2D1E"/>
                </a:solidFill>
                <a:latin typeface="Microsoft YaHei"/>
              </a:rPr>
              <a:t>Vibe Coding 讓我們從機器的僕人變回問題的定義者。
讓我們專注於夢想，將繁瑣交給 AI。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B5A2B"/>
                </a:solidFill>
                <a:latin typeface="Microsoft YaHei"/>
              </a:rPr>
              <a:t>「浩瀚星空下的一點靈光 — 那是人類獨有的創意火花」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模組七：倫理、偏見與人類未來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274</Words>
  <Application>Microsoft Office PowerPoint</Application>
  <PresentationFormat>寬螢幕</PresentationFormat>
  <Paragraphs>105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Microsoft YaHei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joshhu</cp:lastModifiedBy>
  <cp:revision>3</cp:revision>
  <dcterms:created xsi:type="dcterms:W3CDTF">2013-01-27T09:14:16Z</dcterms:created>
  <dcterms:modified xsi:type="dcterms:W3CDTF">2026-01-13T14:06:44Z</dcterms:modified>
  <cp:category/>
</cp:coreProperties>
</file>