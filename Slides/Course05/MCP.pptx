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FFE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0" b="1">
                <a:solidFill>
                  <a:srgbClr val="1C1C1C"/>
                </a:solidFill>
              </a:defRPr>
            </a:pPr>
            <a:r>
              <a:t>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97316"/>
                </a:solidFill>
              </a:defRPr>
            </a:pPr>
            <a:r>
              <a:t>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52525B"/>
                </a:solidFill>
              </a:defRPr>
            </a:pPr>
            <a:r>
              <a:t>打破AI工具的圍牆，實現真正的可擴展Agent生態系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78716C"/>
                </a:solidFill>
              </a:defRPr>
            </a:pPr>
            <a:r>
              <a:t>從ChatGPT內建工具到MCP：理解與實戰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C1C1C"/>
                </a:solidFill>
              </a:defRPr>
            </a:pPr>
            <a:r>
              <a:t>議程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286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97316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1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</a:defRPr>
            </a:pPr>
            <a:r>
              <a:t>Agent 的內建工具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52525B"/>
                </a:solidFill>
              </a:defRPr>
            </a:pPr>
            <a:r>
              <a:t>ChatGPT 如何運作？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97316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80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</a:defRPr>
            </a:pPr>
            <a:r>
              <a:t>同模型，不同應用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29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52525B"/>
                </a:solidFill>
              </a:defRPr>
            </a:pPr>
            <a:r>
              <a:t>Codex CLI 的工具差異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97316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</a:defRPr>
            </a:pPr>
            <a:r>
              <a:t>MCP 原理解析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52525B"/>
                </a:solidFill>
              </a:defRPr>
            </a:pPr>
            <a:r>
              <a:t>協議設計與架構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97316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49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</a:defRPr>
            </a:pPr>
            <a:r>
              <a:t>實戰：Antigravity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897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52525B"/>
                </a:solidFill>
              </a:defRPr>
            </a:pPr>
            <a:r>
              <a:t>安裝與使用 MCP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什麼是 AI Agent？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</a:defRPr>
            </a:pPr>
            <a:r>
              <a:t>傳統 AI 對話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用戶輸入 → AI 輸出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單向、被動回應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無法執行外部動作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侷限於文字生成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具備「行動能力」的 AI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可以使用工具 (Tools)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可以與外部系統互動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能夠自主完成任務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C1C1C"/>
                </a:solidFill>
              </a:defRPr>
            </a:pPr>
            <a:r>
              <a:t>核心概念：Tool Use（工具使用）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97316"/>
                </a:solidFill>
              </a:defRPr>
            </a:pPr>
            <a:r>
              <a:t>Agent = LLM + 工具呼叫能力 + 執行環境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52525B"/>
                </a:solidFill>
              </a:defRPr>
            </a:pPr>
            <a:r>
              <a:t>AI 不只是「說」，還能「做」—— 搜尋網頁、執行程式碼、操作檔案、發送訊息...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ChatGPT 的內建工具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91440" cy="2194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</a:defRPr>
            </a:pPr>
            <a:r>
              <a:t>🔍 網頁搜尋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即時搜尋網路資訊</a:t>
            </a:r>
            <a:br/>
            <a:r>
              <a:t>獲取最新新聞與資料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91440" cy="21945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691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</a:defRPr>
            </a:pPr>
            <a:r>
              <a:t>💻 程式碼執行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Python 沙箱環境</a:t>
            </a:r>
            <a:br/>
            <a:r>
              <a:t>運算、資料分析、繪圖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91440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160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</a:defRPr>
            </a:pPr>
            <a:r>
              <a:t>🎨 圖片生成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846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DALL·E 圖片生成</a:t>
            </a:r>
            <a:br/>
            <a:r>
              <a:t>根據描述創建圖像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91440" cy="21945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4160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</a:defRPr>
            </a:pPr>
            <a:r>
              <a:t>📄 檔案處理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846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上傳/下載檔案</a:t>
            </a:r>
            <a:br/>
            <a:r>
              <a:t>閱讀 PDF、處理資料</a:t>
            </a:r>
          </a:p>
        </p:txBody>
      </p:sp>
      <p:pic>
        <p:nvPicPr>
          <p:cNvPr id="21" name="Picture 20" descr="CleanShot 2026-02-03 at 23.34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81077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ChatGPT 工具是如何運作的？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41148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用戶輸入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2525B"/>
                </a:solidFill>
              </a:defRPr>
            </a:pPr>
            <a:r>
              <a:t>"幫我查今天台北天氣"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28800" y="1828800"/>
            <a:ext cx="1188720" cy="320040"/>
          </a:xfrm>
          <a:prstGeom prst="rightArrow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0" y="164592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模型判斷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2525B"/>
                </a:solidFill>
              </a:defRPr>
            </a:pPr>
            <a:r>
              <a:t>需要使用搜尋工具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72000" y="1828800"/>
            <a:ext cx="1188720" cy="320040"/>
          </a:xfrm>
          <a:prstGeom prst="rightArrow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工具呼叫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2525B"/>
                </a:solidFill>
              </a:defRPr>
            </a:pPr>
            <a:r>
              <a:t>browser_search(...)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15200" y="1828800"/>
            <a:ext cx="1188720" cy="320040"/>
          </a:xfrm>
          <a:prstGeom prst="rightArrow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0" y="164592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結果返回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2525B"/>
                </a:solidFill>
              </a:defRPr>
            </a:pPr>
            <a:r>
              <a:t>整合資訊並回覆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關鍵特性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工具是 OpenAI 預先定義的：用戶無法新增或修改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工具的實作細節封閉：我們不知道 browser_search 內部如何運作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工具與模型緊密耦合：換一個平台，這些工具可能就不存在了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內建工具的局限性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</a:defRPr>
            </a:pPr>
            <a:r>
              <a:t>封閉生態系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只能使用 OpenAI 提供的工具，無法自行擴充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⛓️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</a:defRPr>
            </a:pPr>
            <a:r>
              <a:t>平台鎖定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工具能力綁定特定平台，無法遷移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</a:defRPr>
            </a:pPr>
            <a:r>
              <a:t>功能受限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26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無法連接企業內部系統或自定義服務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79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79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</a:defRPr>
            </a:pPr>
            <a:r>
              <a:t>更新緩慢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新工具需等待官方開發與部署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0" y="-914400"/>
            <a:ext cx="6400800" cy="6400800"/>
          </a:xfrm>
          <a:prstGeom prst="ellipse">
            <a:avLst/>
          </a:prstGeom>
          <a:solidFill>
            <a:srgbClr val="FFE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97316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C1C1C"/>
                </a:solidFill>
              </a:defRPr>
            </a:pPr>
            <a:r>
              <a:t>同模型，不同應用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52525B"/>
                </a:solidFill>
              </a:defRPr>
            </a:pPr>
            <a:r>
              <a:t>OpenAI 生態系中的工具差異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OpenAI 產品生態系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1463040" cy="3657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網頁/APP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</a:defRPr>
            </a:pPr>
            <a: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通用對話、內建工具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75120" y="1554480"/>
            <a:ext cx="1463040" cy="365760"/>
          </a:xfrm>
          <a:prstGeom prst="round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開發者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57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</a:defRPr>
            </a:pPr>
            <a: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純文字/多模態，需自建工具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4206240"/>
            <a:ext cx="146304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終端機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</a:defRPr>
            </a:pPr>
            <a:r>
              <a:t>Codex 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程式碼生成與執行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02336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75120" y="4206240"/>
            <a:ext cx="1463040" cy="36576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自定義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09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C"/>
                </a:solidFill>
              </a:defRPr>
            </a:pPr>
            <a:r>
              <a:t>GPTs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3035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自訂指令與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97316"/>
                </a:solidFill>
              </a:defRPr>
            </a:pPr>
            <a:r>
              <a:t>💡 同樣基於 GPT 模型，但每個產品的「工具能力」完全不同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Codex CLI 是什麼？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52525B"/>
                </a:solidFill>
              </a:defRPr>
            </a:pPr>
            <a:r>
              <a:t>OpenAI 推出的終端機程式助手，讓開發者在命令列與 AI 互動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4ADE80"/>
                </a:solidFill>
              </a:defRPr>
            </a:pPr>
            <a:r>
              <a:t>$ codex "建立一個 Python 專案結構"</a:t>
            </a:r>
            <a:br/>
            <a:br/>
            <a:r>
              <a:t>Codex 正在分析您的需求...</a:t>
            </a:r>
            <a:br/>
            <a:r>
              <a:t>✓ 建立 src/ 目錄</a:t>
            </a:r>
            <a:br/>
            <a:r>
              <a:t>✓ 建立 tests/ 目錄</a:t>
            </a:r>
            <a:br/>
            <a:r>
              <a:t>✓ 生成 setup.py</a:t>
            </a:r>
            <a:br/>
            <a:r>
              <a:t>✓ 生成 requirements.txt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C1C1C"/>
                </a:solidFill>
              </a:defRPr>
            </a:pPr>
            <a:r>
              <a:t>Codex CLI 的工具能力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檔案操作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2525B"/>
                </a:solidFill>
              </a:defRPr>
            </a:pPr>
            <a:r>
              <a:t>讀寫、建立、刪除檔案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93776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Shell 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532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2525B"/>
                </a:solidFill>
              </a:defRPr>
            </a:pPr>
            <a:r>
              <a:t>執行終端機命令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93776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程式碼生成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532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2525B"/>
                </a:solidFill>
              </a:defRPr>
            </a:pPr>
            <a:r>
              <a:t>根據需求產生程式碼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工具對比：ChatGPT vs Codex CLI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41148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</a:defRPr>
            </a:pPr>
            <a:r>
              <a:t>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</a:defRPr>
            </a:pPr>
            <a:r>
              <a:t>ChatGPT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544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</a:defRPr>
            </a:pPr>
            <a:r>
              <a:t>Codex CLI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0698480" cy="685800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C1C1C"/>
                </a:solidFill>
              </a:defRPr>
            </a:pPr>
            <a:r>
              <a:t>網頁搜尋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1945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2626"/>
                </a:solidFill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C1C1C"/>
                </a:solidFill>
              </a:defRPr>
            </a:pPr>
            <a:r>
              <a:t>圖片生成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971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971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2626"/>
                </a:solidFill>
              </a:defRPr>
            </a:pPr>
            <a:r>
              <a:t>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599"/>
            <a:ext cx="10698480" cy="685800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374903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C1C1C"/>
                </a:solidFill>
              </a:defRPr>
            </a:pPr>
            <a:r>
              <a:t>檔案系統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4903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2626"/>
                </a:solidFill>
              </a:defRPr>
            </a:pPr>
            <a:r>
              <a:t>有限 (沙箱)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74903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A34A"/>
                </a:solidFill>
              </a:defRPr>
            </a:pPr>
            <a:r>
              <a:t>✓ 完整存取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2627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C1C1C"/>
                </a:solidFill>
              </a:defRPr>
            </a:pPr>
            <a:r>
              <a:t>Shell 執行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52627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2626"/>
                </a:solidFill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52627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12080"/>
            <a:ext cx="10698480" cy="685800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5303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C1C1C"/>
                </a:solidFill>
              </a:defRPr>
            </a:pPr>
            <a:r>
              <a:t>本地整合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303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2626"/>
                </a:solidFill>
              </a:defRPr>
            </a:pPr>
            <a: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303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6928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897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CA8A04"/>
                </a:solidFill>
              </a:defRPr>
            </a:pPr>
            <a:r>
              <a:t>💡 同一個 GPT 模型，因為「工具集」不同，能力天差地別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核心問題：工具不可互通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41148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2626"/>
                </a:solidFill>
              </a:defRPr>
            </a:pPr>
            <a:r>
              <a:t>現狀痛點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每個應用程式都要重新實作工具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工具的定義格式各不相同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用戶無法在不同 AI 間共享工具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開發者需要為每個平台重複開發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A34A"/>
                </a:solidFill>
              </a:defRPr>
            </a:pPr>
            <a:r>
              <a:t>我們需要什麼？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一個通用的工具協議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標準化的工具定義格式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跨平台的工具共享機制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讓工具可以「即插即用」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97316"/>
                </a:solidFill>
              </a:defRPr>
            </a:pPr>
            <a:r>
              <a:t>這就是 MCP 要解決的問題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52525B"/>
                </a:solidFill>
              </a:defRPr>
            </a:pPr>
            <a:r>
              <a:t>Model Context Protocol — 一個開放的工具通訊協議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914400"/>
            <a:ext cx="7315200" cy="7315200"/>
          </a:xfrm>
          <a:prstGeom prst="ellipse">
            <a:avLst/>
          </a:prstGeom>
          <a:solidFill>
            <a:srgbClr val="FFE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97316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C1C1C"/>
                </a:solidFill>
              </a:defRPr>
            </a:pPr>
            <a:r>
              <a:t>MCP 原理解析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52525B"/>
                </a:solidFill>
              </a:defRPr>
            </a:pPr>
            <a:r>
              <a:t>Model Context Protocol 的設計與架構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MCP 是什麼？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</a:defRPr>
            </a:pPr>
            <a:r>
              <a:t>Model Context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C1C1C"/>
                </a:solidFill>
              </a:defRPr>
            </a:pPr>
            <a:r>
              <a:t>由 Anthropic 提出的開放協議，定義了 AI 模型如何與外部工具、資源進行標準化通訊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C1C1C"/>
                </a:solidFill>
              </a:defRPr>
            </a:pPr>
            <a:r>
              <a:t>核心特點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4389120"/>
            <a:ext cx="228600" cy="2286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開放標準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2525B"/>
                </a:solidFill>
              </a:defRPr>
            </a:pPr>
            <a:r>
              <a:t>任何人都可以實作和使用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420624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63440" y="4389120"/>
            <a:ext cx="228600" cy="228600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79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DE5"/>
                </a:solidFill>
              </a:defRPr>
            </a:pPr>
            <a:r>
              <a:t>語言無關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892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2525B"/>
                </a:solidFill>
              </a:defRPr>
            </a:pPr>
            <a:r>
              <a:t>支援任何程式語言開發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20624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80" y="438912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</a:defRPr>
            </a:pPr>
            <a:r>
              <a:t>模型無關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892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2525B"/>
                </a:solidFill>
              </a:defRPr>
            </a:pPr>
            <a:r>
              <a:t>可用於任何支援工具的 AI 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78716C"/>
                </a:solidFill>
              </a:defRPr>
            </a:pPr>
            <a:r>
              <a:t>類比：USB 讓各種設備可以用同一種接口連接電腦，MCP 讓各種工具可以用同一種協議連接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MCP 的設計理念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</a:defRPr>
            </a:pPr>
            <a:r>
              <a:t>解耦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52525B"/>
                </a:solidFill>
              </a:defRPr>
            </a:pPr>
            <a:r>
              <a:t>工具實作與 AI 模型分離</a:t>
            </a:r>
            <a:br/>
            <a:r>
              <a:t>不同的 AI 可以使用相同的工具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75120" y="155448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00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</a:defRPr>
            </a:pPr>
            <a:r>
              <a:t>標準化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402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52525B"/>
                </a:solidFill>
              </a:defRPr>
            </a:pPr>
            <a:r>
              <a:t>統一的通訊格式 (JSON-RPC 2.0)</a:t>
            </a:r>
            <a:br/>
            <a:r>
              <a:t>標準化的工具描述方式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</a:defRPr>
            </a:pPr>
            <a:r>
              <a:t>可擴展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52525B"/>
                </a:solidFill>
              </a:defRPr>
            </a:pPr>
            <a:r>
              <a:t>輕鬆添加新工具</a:t>
            </a:r>
            <a:br/>
            <a:r>
              <a:t>不需要修改 AI 本身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93192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75120" y="411480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</a:defRPr>
            </a:pPr>
            <a:r>
              <a:t>安全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8006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52525B"/>
                </a:solidFill>
              </a:defRPr>
            </a:pPr>
            <a:r>
              <a:t>明確的權限邊界</a:t>
            </a:r>
            <a:br/>
            <a:r>
              <a:t>用戶可控的工具授權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MCP 整體架構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108960" cy="4389120"/>
          </a:xfrm>
          <a:prstGeom prst="roundRect">
            <a:avLst/>
          </a:prstGeom>
          <a:solidFill>
            <a:srgbClr val="FFF7ED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</a:defRPr>
            </a:pPr>
            <a:r>
              <a:t>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78716C"/>
                </a:solidFill>
              </a:defRPr>
            </a:pPr>
            <a:r>
              <a:t>(AI 應用程式)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2743200" cy="1005840"/>
          </a:xfrm>
          <a:prstGeom prst="round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2743200" cy="1645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MCP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</a:defRPr>
            </a:pPr>
            <a:r>
              <a:t>管理與 Server</a:t>
            </a:r>
            <a:br/>
            <a:r>
              <a:t>的連接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49039" y="4389120"/>
            <a:ext cx="1371600" cy="41148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78716C"/>
                </a:solidFill>
              </a:defRPr>
            </a:pPr>
            <a:r>
              <a:t>JSON-RPC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463040"/>
            <a:ext cx="31089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</a:defRPr>
            </a:pPr>
            <a:r>
              <a:t>MCP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檔案系統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52525B"/>
                </a:solidFill>
              </a:defRPr>
            </a:pPr>
            <a:r>
              <a:t>讀寫檔案、目錄操作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657600"/>
            <a:ext cx="31089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8A04"/>
                </a:solidFill>
              </a:defRPr>
            </a:pPr>
            <a:r>
              <a:t>MCP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資料庫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52525B"/>
                </a:solidFill>
              </a:defRPr>
            </a:pPr>
            <a:r>
              <a:t>SQL 查詢、資料操作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2560320"/>
            <a:ext cx="31089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DE5"/>
                </a:solidFill>
              </a:defRPr>
            </a:pPr>
            <a:r>
              <a:t>MCP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API 服務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52525B"/>
                </a:solidFill>
              </a:defRPr>
            </a:pPr>
            <a:r>
              <a:t>HTTP 請求、認證...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78716C"/>
                </a:solidFill>
              </a:defRPr>
            </a:pPr>
            <a:r>
              <a:t>一個 Host 可以連接多個 MCP Server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MCP 核心組件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AI 應用程式本身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例如：Claude Desktop, VS Code</a:t>
            </a:r>
          </a:p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負責管理 Client 連接</a:t>
            </a:r>
          </a:p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接收用戶輸入並呼叫 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57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417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協議的客戶端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260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內嵌於 Host 中</a:t>
            </a:r>
          </a:p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維護與 Server 的 1:1 連接</a:t>
            </a:r>
          </a:p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處理協議細節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657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657600" cy="8229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417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工具的提供者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獨立運行的程序</a:t>
            </a:r>
          </a:p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暴露工具 (Tools)、資源 (Resources)</a:t>
            </a:r>
          </a:p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可用任何語言實作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MCP 通訊流程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371600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52525B"/>
                </a:solidFill>
              </a:defRPr>
            </a:pPr>
            <a:r>
              <a:t>Client 與 Server</a:t>
            </a:r>
            <a:br/>
            <a:r>
              <a:t>建立連接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94560" y="1600200"/>
            <a:ext cx="502920" cy="320040"/>
          </a:xfrm>
          <a:prstGeom prst="rightArrow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200400" y="1371600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發現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834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52525B"/>
                </a:solidFill>
              </a:defRPr>
            </a:pPr>
            <a:r>
              <a:t>查詢可用的</a:t>
            </a:r>
            <a:br/>
            <a:r>
              <a:t>Tools 和 Resources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26279" y="1600200"/>
            <a:ext cx="502920" cy="320040"/>
          </a:xfrm>
          <a:prstGeom prst="rightArrow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32120" y="1371600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呼叫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34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52525B"/>
                </a:solidFill>
              </a:defRPr>
            </a:pPr>
            <a:r>
              <a:t>LLM 決定使用工具</a:t>
            </a:r>
            <a:br/>
            <a:r>
              <a:t>Client 發送請求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58000" y="1600200"/>
            <a:ext cx="502920" cy="320040"/>
          </a:xfrm>
          <a:prstGeom prst="rightArrow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863840" y="1371600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執行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2834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52525B"/>
                </a:solidFill>
              </a:defRPr>
            </a:pPr>
            <a:r>
              <a:t>Server 執行工具</a:t>
            </a:r>
            <a:br/>
            <a:r>
              <a:t>返回結果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89719" y="1600200"/>
            <a:ext cx="502920" cy="320040"/>
          </a:xfrm>
          <a:prstGeom prst="rightArrow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195560" y="1371600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834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52525B"/>
                </a:solidFill>
              </a:defRPr>
            </a:pPr>
            <a:r>
              <a:t>LLM 整合結果</a:t>
            </a:r>
            <a:br/>
            <a:r>
              <a:t>生成最終回覆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</a:defRPr>
            </a:pPr>
            <a:r>
              <a:t>通訊協議：JSON-RPC 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2525B"/>
                </a:solidFill>
              </a:defRPr>
            </a:pPr>
            <a:r>
              <a:t>請求：{"jsonrpc": "2.0", "method": "tools/call", "params": {...}, "id": 1}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2525B"/>
                </a:solidFill>
              </a:defRPr>
            </a:pPr>
            <a:r>
              <a:t>回應：{"jsonrpc": "2.0", "result": {...}, "id": 1}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Transport 傳輸層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52525B"/>
                </a:solidFill>
              </a:defRPr>
            </a:pPr>
            <a:r>
              <a:t>MCP 支援多種傳輸方式，可依據使用場景選擇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303520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標準輸入/輸出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52525B"/>
                </a:solidFill>
              </a:defRPr>
            </a:pPr>
            <a:r>
              <a:t>• 最常用的本地通訊方式</a:t>
            </a:r>
          </a:p>
          <a:p>
            <a:pPr>
              <a:spcAft>
                <a:spcPts val="1400"/>
              </a:spcAft>
              <a:defRPr sz="1500">
                <a:solidFill>
                  <a:srgbClr val="52525B"/>
                </a:solidFill>
              </a:defRPr>
            </a:pPr>
            <a:r>
              <a:t>• Host 啟動 Server 作為子程序</a:t>
            </a:r>
          </a:p>
          <a:p>
            <a:pPr>
              <a:spcAft>
                <a:spcPts val="1400"/>
              </a:spcAft>
              <a:defRPr sz="1500">
                <a:solidFill>
                  <a:srgbClr val="52525B"/>
                </a:solidFill>
              </a:defRPr>
            </a:pPr>
            <a:r>
              <a:t>• 透過 stdin/stdout 通訊</a:t>
            </a:r>
          </a:p>
          <a:p>
            <a:pPr>
              <a:spcAft>
                <a:spcPts val="1400"/>
              </a:spcAft>
              <a:defRPr sz="1500">
                <a:solidFill>
                  <a:srgbClr val="52525B"/>
                </a:solidFill>
              </a:defRPr>
            </a:pPr>
            <a:r>
              <a:t>• 適合本地工具整合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1828800"/>
            <a:ext cx="5303520" cy="9144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HTTP + 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網路通訊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52525B"/>
                </a:solidFill>
              </a:defRPr>
            </a:pPr>
            <a:r>
              <a:t>• Server-Sent Events 串流</a:t>
            </a:r>
          </a:p>
          <a:p>
            <a:pPr>
              <a:spcAft>
                <a:spcPts val="1400"/>
              </a:spcAft>
              <a:defRPr sz="1500">
                <a:solidFill>
                  <a:srgbClr val="52525B"/>
                </a:solidFill>
              </a:defRPr>
            </a:pPr>
            <a:r>
              <a:t>• 適合遠端服務</a:t>
            </a:r>
          </a:p>
          <a:p>
            <a:pPr>
              <a:spcAft>
                <a:spcPts val="1400"/>
              </a:spcAft>
              <a:defRPr sz="1500">
                <a:solidFill>
                  <a:srgbClr val="52525B"/>
                </a:solidFill>
              </a:defRPr>
            </a:pPr>
            <a:r>
              <a:t>• 支援認證與授權</a:t>
            </a:r>
          </a:p>
          <a:p>
            <a:pPr>
              <a:spcAft>
                <a:spcPts val="1400"/>
              </a:spcAft>
              <a:defRPr sz="1500">
                <a:solidFill>
                  <a:srgbClr val="52525B"/>
                </a:solidFill>
              </a:defRPr>
            </a:pPr>
            <a:r>
              <a:t>• 可部署為網路服務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Tools 與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97316"/>
                </a:solidFill>
              </a:defRPr>
            </a:pPr>
            <a:r>
              <a:t>Tools 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模型可以呼叫的功能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需要執行動作（如發送訊息）</a:t>
            </a:r>
          </a:p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有輸入參數和輸出結果</a:t>
            </a:r>
          </a:p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例：search_web, send_email</a:t>
            </a:r>
          </a:p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由 LLM 決定何時呼叫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3035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9488"/>
                </a:solidFill>
              </a:defRPr>
            </a:pPr>
            <a:r>
              <a:t>Resources 資源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模型可以讀取的資料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用 URI 標識（如 file://path）</a:t>
            </a:r>
          </a:p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可動態變化的內容</a:t>
            </a:r>
          </a:p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例：檔案內容、資料庫記錄</a:t>
            </a:r>
          </a:p>
          <a:p>
            <a:pPr>
              <a:spcAft>
                <a:spcPts val="1400"/>
              </a:spcAft>
              <a:defRPr sz="1400">
                <a:solidFill>
                  <a:srgbClr val="52525B"/>
                </a:solidFill>
              </a:defRPr>
            </a:pPr>
            <a:r>
              <a:t>• 用戶或應用程式控制存取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4ADE80"/>
                </a:solidFill>
              </a:defRPr>
            </a:pPr>
            <a:r>
              <a:t>// Tool 定義範例</a:t>
            </a:r>
            <a:br/>
            <a:r>
              <a:t>{</a:t>
            </a:r>
            <a:br/>
            <a:r>
              <a:t>  "name": "read_file",</a:t>
            </a:r>
            <a:br/>
            <a:r>
              <a:t>  "description": "讀取指定路徑的檔案內容",</a:t>
            </a:r>
            <a:br/>
            <a:r>
              <a:t>  "inputSchema": { "type": "object", "properties": { "path": {"type": "string"} }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MCP 的優勢總結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3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即插即用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52525B"/>
                </a:solidFill>
              </a:defRPr>
            </a:pPr>
            <a:r>
              <a:t>安裝 Server 後立即可用</a:t>
            </a:r>
            <a:br/>
            <a:r>
              <a:t>無需修改 AI 應用程式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3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跨平台共享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52525B"/>
                </a:solidFill>
              </a:defRPr>
            </a:pPr>
            <a:r>
              <a:t>同一個 MCP Server</a:t>
            </a:r>
            <a:br/>
            <a:r>
              <a:t>可用於多個 AI 應用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3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開發者友善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52525B"/>
                </a:solidFill>
              </a:defRPr>
            </a:pPr>
            <a:r>
              <a:t>標準化協議</a:t>
            </a:r>
            <a:br/>
            <a:r>
              <a:t>支援任何程式語言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安全可控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2627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52525B"/>
                </a:solidFill>
              </a:defRPr>
            </a:pPr>
            <a:r>
              <a:t>明確的權限邊界</a:t>
            </a:r>
            <a:br/>
            <a:r>
              <a:t>用戶掌控工具授權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49039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39319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977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生態繁榮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52627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52525B"/>
                </a:solidFill>
              </a:defRPr>
            </a:pPr>
            <a:r>
              <a:t>社群共同開發</a:t>
            </a:r>
            <a:br/>
            <a:r>
              <a:t>工具數量快速成長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49039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39319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977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持續演進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2627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52525B"/>
                </a:solidFill>
              </a:defRPr>
            </a:pPr>
            <a:r>
              <a:t>開放標準持續更新</a:t>
            </a:r>
            <a:br/>
            <a:r>
              <a:t>支援更多功能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0" y="0"/>
            <a:ext cx="7315200" cy="7315200"/>
          </a:xfrm>
          <a:prstGeom prst="ellipse">
            <a:avLst/>
          </a:prstGeom>
          <a:solidFill>
            <a:srgbClr val="FFE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97316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C1C1C"/>
                </a:solidFill>
              </a:defRPr>
            </a:pPr>
            <a:r>
              <a:t>實戰：Antigravity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52525B"/>
                </a:solidFill>
              </a:defRPr>
            </a:pPr>
            <a:r>
              <a:t>在 Antigravity 中安裝與使用 MCP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Antigravity 是什麼？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108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716C"/>
                </a:solidFill>
              </a:defRPr>
            </a:pPr>
            <a:r>
              <a:t>[截圖區域]</a:t>
            </a:r>
            <a:br/>
            <a:r>
              <a:t>Antigravity 介面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特點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支援 MCP 協議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可安裝多種 MCP Server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圖形化介面管理工具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跨平台支援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活躍的社群生態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78716C"/>
                </a:solidFill>
              </a:defRPr>
            </a:pPr>
            <a:r>
              <a:t>💡 提示：如有 Antigravity 介面截圖，可替換左側區塊</a:t>
            </a:r>
          </a:p>
        </p:txBody>
      </p:sp>
      <p:pic>
        <p:nvPicPr>
          <p:cNvPr id="11" name="Picture 10" descr="CleanShot 2026-02-04 at 00.34.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86000"/>
            <a:ext cx="4114800" cy="21134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步驟 1：開啟 MCP 設定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716C"/>
                </a:solidFill>
              </a:defRPr>
            </a:pPr>
            <a:r>
              <a:t>[截圖區域]</a:t>
            </a:r>
            <a:br/>
            <a:r>
              <a:t>設定選單 → MCP Servers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</a:defRPr>
            </a:pPr>
            <a:r>
              <a:t>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1. 開啟 Antigravity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2. 點擊設定圖示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7490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3. 選擇 MCP Servers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480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4. 進入管理頁面</a:t>
            </a:r>
          </a:p>
        </p:txBody>
      </p:sp>
      <p:pic>
        <p:nvPicPr>
          <p:cNvPr id="13" name="Picture 12" descr="CleanShot 2026-02-04 at 00.34.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5029200" cy="392853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步驟 2：新增 MCP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716C"/>
                </a:solidFill>
              </a:defRPr>
            </a:pPr>
            <a:r>
              <a:t>[截圖區域]</a:t>
            </a:r>
            <a:br/>
            <a:r>
              <a:t>新增 Server 介面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</a:defRPr>
            </a:pPr>
            <a:r>
              <a:t>選擇方式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從市集安裝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手動配置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匯入設定檔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114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</a:defRPr>
            </a:pPr>
            <a:r>
              <a:t>推薦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572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52525B"/>
                </a:solidFill>
              </a:defRPr>
            </a:pPr>
            <a:r>
              <a:t>新手建議使用</a:t>
            </a:r>
            <a:br/>
            <a:r>
              <a:t>市集安裝方式</a:t>
            </a:r>
          </a:p>
        </p:txBody>
      </p:sp>
      <p:pic>
        <p:nvPicPr>
          <p:cNvPr id="12" name="Picture 11" descr="CleanShot 2026-02-04 at 00.38.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5303520" cy="84131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步驟 3：設定 Server 參數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669280" cy="34747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ADE80"/>
                </a:solidFill>
              </a:defRPr>
            </a:pPr>
            <a:r>
              <a:t>{</a:t>
            </a:r>
            <a:br/>
            <a:r>
              <a:t>  "mcpServers": {</a:t>
            </a:r>
            <a:br/>
            <a:r>
              <a:t>    "filesystem": {</a:t>
            </a:r>
            <a:br/>
            <a:r>
              <a:t>      "command": "npx",</a:t>
            </a:r>
            <a:br/>
            <a:r>
              <a:t>      "args": [</a:t>
            </a:r>
            <a:br/>
            <a:r>
              <a:t>        "-y",</a:t>
            </a:r>
            <a:br/>
            <a:r>
              <a:t>        "@anthropic/mcp-filesystem",</a:t>
            </a:r>
            <a:br/>
            <a:r>
              <a:t>        "/Users/name/Documents"</a:t>
            </a:r>
            <a:br/>
            <a:r>
              <a:t>      ]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371600"/>
            <a:ext cx="4754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1554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</a:defRPr>
            </a:pPr>
            <a:r>
              <a:t>參數說明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19456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command: 執行命令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args: 命令參數</a:t>
            </a:r>
          </a:p>
          <a:p>
            <a:pPr>
              <a:spcAft>
                <a:spcPts val="1400"/>
              </a:spcAft>
              <a:defRPr sz="1600">
                <a:solidFill>
                  <a:srgbClr val="52525B"/>
                </a:solidFill>
              </a:defRPr>
            </a:pPr>
            <a:r>
              <a:t>• env: 環境變數（可選）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8A04"/>
                </a:solidFill>
              </a:defRPr>
            </a:pPr>
            <a:r>
              <a:t>⚠️ 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53492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確認路徑正確，某些 Server 可能需要額外安裝依賴（如 Node.js、Python）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步驟 4：啟用與測試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716C"/>
                </a:solidFill>
              </a:defRPr>
            </a:pPr>
            <a:r>
              <a:t>[截圖區域]</a:t>
            </a:r>
            <a:br/>
            <a:r>
              <a:t>啟用 Server 後的介面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</a:defRPr>
            </a:pPr>
            <a:r>
              <a:t>驗證步驟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1. 檢查狀態圖示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2. 開啟新對話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7490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3. 測試工具功能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480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C1C1C"/>
                </a:solidFill>
              </a:defRPr>
            </a:pPr>
            <a:r>
              <a:t>4. 確認正常運作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</a:defRPr>
            </a:pPr>
            <a:r>
              <a:t>成功標誌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257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52525B"/>
                </a:solidFill>
              </a:defRPr>
            </a:pPr>
            <a:r>
              <a:t>✓ 綠色狀態指示</a:t>
            </a:r>
          </a:p>
        </p:txBody>
      </p:sp>
      <p:pic>
        <p:nvPicPr>
          <p:cNvPr id="15" name="Picture 14" descr="CleanShot 2026-02-04 at 00.40.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217920" cy="475423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常用 MCP Server 推薦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41148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91440" cy="2103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Filesystem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52525B"/>
                </a:solidFill>
              </a:defRPr>
            </a:pPr>
            <a:r>
              <a:t>檔案系統操作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97316"/>
                </a:solidFill>
              </a:defRPr>
            </a:pPr>
            <a:r>
              <a:t>@anthropic/mcp-filesystem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91440" cy="210312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52525B"/>
                </a:solidFill>
              </a:defRPr>
            </a:pPr>
            <a:r>
              <a:t>GitHub API 整合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3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97316"/>
                </a:solidFill>
              </a:defRPr>
            </a:pPr>
            <a:r>
              <a:t>@anthropic/mcp-github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91440" cy="2103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463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Brave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52525B"/>
                </a:solidFill>
              </a:defRPr>
            </a:pPr>
            <a:r>
              <a:t>網頁搜尋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3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97316"/>
                </a:solidFill>
              </a:defRPr>
            </a:pPr>
            <a:r>
              <a:t>@anthropic/mcp-brave-search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91440" cy="210312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52525B"/>
                </a:solidFill>
              </a:defRPr>
            </a:pPr>
            <a:r>
              <a:t>資料庫操作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97316"/>
                </a:solidFill>
              </a:defRPr>
            </a:pPr>
            <a:r>
              <a:t>@anthropic/mcp-sqlite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5760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7680" y="3657600"/>
            <a:ext cx="91440" cy="2103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Fetch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52525B"/>
                </a:solidFill>
              </a:defRPr>
            </a:pPr>
            <a:r>
              <a:t>HTTP 請求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754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97316"/>
                </a:solidFill>
              </a:defRPr>
            </a:pPr>
            <a:r>
              <a:t>@anthropic/mcp-fetch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65760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3657600"/>
            <a:ext cx="91440" cy="2103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52525B"/>
                </a:solidFill>
              </a:defRPr>
            </a:pPr>
            <a:r>
              <a:t>知識庫管理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54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97316"/>
                </a:solidFill>
              </a:defRPr>
            </a:pPr>
            <a:r>
              <a:t>@anthropic/mcp-memory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78716C"/>
                </a:solidFill>
              </a:defRPr>
            </a:pPr>
            <a:r>
              <a:t>💡 更多 Server 可在 GitHub 上的 MCP Servers 專案找到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1C1C"/>
                </a:solidFill>
              </a:defRPr>
            </a:pPr>
            <a:r>
              <a:t>實際使用範例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0" y="1554480"/>
            <a:ext cx="5943600" cy="8229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0" y="1737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請幫我看看 ~/Documents 裡有哪些 PDF 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78716C"/>
                </a:solidFill>
              </a:defRPr>
            </a:pPr>
            <a:r>
              <a:t>🤔 正在呼叫 filesystem server...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00400"/>
            <a:ext cx="6400800" cy="11887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6035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4ADE80"/>
                </a:solidFill>
              </a:defRPr>
            </a:pPr>
            <a:r>
              <a:t>Tool: list_directory</a:t>
            </a:r>
            <a:br/>
            <a:r>
              <a:t>Path: ~/Documents</a:t>
            </a:r>
            <a:br/>
            <a:r>
              <a:t>Filter: *.pdf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663440"/>
            <a:ext cx="7315200" cy="12801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78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4800600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C1C1C"/>
                </a:solidFill>
              </a:defRPr>
            </a:pPr>
            <a:r>
              <a:t>在 Documents 資料夾中找到 5 個 PDF 檔案：</a:t>
            </a:r>
            <a:br/>
            <a:r>
              <a:t>• report_2024.pdf (2.3 MB)</a:t>
            </a:r>
            <a:br/>
            <a:r>
              <a:t>• presentation.pdf (5.1 MB)</a:t>
            </a:r>
            <a:br/>
            <a:r>
              <a:t>• contract.pdf (156 KB)...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C1C1C"/>
                </a:solidFill>
              </a:defRPr>
            </a:pPr>
            <a:r>
              <a:t>總結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286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594360" cy="5943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C1C1C"/>
                </a:solidFill>
              </a:defRPr>
            </a:pPr>
            <a:r>
              <a:t>傳統 AI 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封閉、平台鎖定、無法擴充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3246120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C1C1C"/>
                </a:solidFill>
              </a:defRPr>
            </a:pPr>
            <a:r>
              <a:t>MCP 的解決方案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11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開放協議、標準化、即插即用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5840" y="4663440"/>
            <a:ext cx="594360" cy="5943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C1C1C"/>
                </a:solidFill>
              </a:defRPr>
            </a:pPr>
            <a:r>
              <a:rPr dirty="0" err="1"/>
              <a:t>實際應用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在 Antigravity 等應用中安裝 MCP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18352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</a:defRPr>
            </a:pPr>
            <a:r>
              <a:rPr dirty="0"/>
              <a:t>🚀 </a:t>
            </a:r>
            <a:r>
              <a:rPr dirty="0" err="1"/>
              <a:t>未來展望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52525B"/>
                </a:solidFill>
              </a:defRPr>
            </a:pPr>
            <a:r>
              <a:t>MCP 正在快速發展，越來越多的 AI 應用支援這個協議，工具生態也日益豐富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FFE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FE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0" b="1">
                <a:solidFill>
                  <a:srgbClr val="1C1C1C"/>
                </a:solidFill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97316"/>
                </a:solidFill>
              </a:defRPr>
            </a:pPr>
            <a:r>
              <a:t>感謝聆聽，歡迎提問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78716C"/>
                </a:solidFill>
              </a:defRPr>
            </a:pPr>
            <a:r>
              <a:t>更多資源：github.com/anthropics/model-context-protocol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1211</Words>
  <Application>Microsoft Macintosh PowerPoint</Application>
  <PresentationFormat>寬螢幕</PresentationFormat>
  <Paragraphs>363</Paragraphs>
  <Slides>30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 Hu</cp:lastModifiedBy>
  <cp:revision>2</cp:revision>
  <dcterms:created xsi:type="dcterms:W3CDTF">2013-01-27T09:14:16Z</dcterms:created>
  <dcterms:modified xsi:type="dcterms:W3CDTF">2026-02-03T17:45:36Z</dcterms:modified>
  <cp:category/>
</cp:coreProperties>
</file>