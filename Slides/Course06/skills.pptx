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7684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擴展 Claude 的模組化能力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每個 Skill 封裝指令、元資料和可選資源，Claude 會在相關時自動使用它們。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097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什麼是 Agent Skills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p.3-6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27632"/>
            <a:ext cx="7680960" cy="411480"/>
          </a:xfrm>
          <a:prstGeom prst="rect">
            <a:avLst/>
          </a:prstGeom>
          <a:solidFill>
            <a:srgbClr val="FAF9F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276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6276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三大核心優勢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16276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p.7-10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157984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5798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15798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三層漸進式載入模型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15798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p.11-18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688336"/>
            <a:ext cx="7680960" cy="411480"/>
          </a:xfrm>
          <a:prstGeom prst="rect">
            <a:avLst/>
          </a:prstGeom>
          <a:solidFill>
            <a:srgbClr val="FAF9F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6883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268833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架構與運作流程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26883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p.19-22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218688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2186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32186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目錄結構與 SKILL.md 詳解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32186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p.23-27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749040"/>
            <a:ext cx="7680960" cy="411480"/>
          </a:xfrm>
          <a:prstGeom prst="rect">
            <a:avLst/>
          </a:prstGeom>
          <a:solidFill>
            <a:srgbClr val="FAF9F5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7490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3749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跨平台可用性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3749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p.28-31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279392"/>
            <a:ext cx="76809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2793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54480" y="42793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安全考量與限制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0" y="42793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p.32-34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什麼是 Agent Skills？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概念介紹與核心定義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 定義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14630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188720"/>
            <a:ext cx="7132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Skills 是擴展 Claude 功能的模組化能力。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每個 Skill 是一個基於檔案系統的資源包，封裝了指令、元資料和可選的腳本與範本，為 Claude 提供特定領域的專業知識：工作流程、上下文和最佳實踐。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24231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926080"/>
            <a:ext cx="2423160" cy="457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08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基於檔案系統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以目錄形式存在，包含 SKILL.md、腳本和參考資料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926080"/>
            <a:ext cx="24231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926080"/>
            <a:ext cx="2423160" cy="4572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3108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自動觸發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34747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在請求匹配時自動讀取並使用相關 Skill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926080"/>
            <a:ext cx="24231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926080"/>
            <a:ext cx="2423160" cy="457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3108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漸進式載入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34747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按需分階段載入，不預先消耗上下文視窗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vs 提示詞（Prompts）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2880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AF9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提示詞 Prompts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AF9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Skills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作用範圍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7777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單一對話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跨所有對話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載入方式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7777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手動貼入每次對話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自動按需載入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上下文消耗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7777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始終佔用上下文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僅觸發時消耗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可包含內容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7777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純文字指令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指令 + 腳本 + 資源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重複使用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7777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需每次重新提供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建立一次，永久使用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14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複雜度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77777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簡單指令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可建構複雜工作流程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4" name="Text 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的使用場景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10058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188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預建 Agent Skills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 提供的即用型 Skills，處理 PowerPoint、Excel、Word、PDF 等常見文件任務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286000"/>
            <a:ext cx="73152" cy="100584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3774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自訂 Skills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743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封裝您組織的領域專業知識和工作流程，如資料庫查詢規範、程式碼審查標準、報告格式等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474720"/>
            <a:ext cx="73152" cy="100584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5661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組合使用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結合多個 Skills 處理複雜任務，如：同時使用 Excel Skill 分析資料 + PDF Skill 生成報告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三大核心優勢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為何比傳統提示詞更強大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優勢一：專業化 Claude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188720"/>
            <a:ext cx="73152" cy="10058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7" name="Shape 4"/>
          <p:cNvSpPr/>
          <p:nvPr/>
        </p:nvSpPr>
        <p:spPr>
          <a:xfrm>
            <a:off x="1005840" y="1417320"/>
            <a:ext cx="502920" cy="50292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37360" y="12801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量身定制能力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737360" y="16459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為特定領域任務（如法律文件審查、財務分析、程式碼審計）提供專業指導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237744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377440"/>
            <a:ext cx="73152" cy="10058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3" name="Shape 10"/>
          <p:cNvSpPr/>
          <p:nvPr/>
        </p:nvSpPr>
        <p:spPr>
          <a:xfrm>
            <a:off x="1005840" y="2606040"/>
            <a:ext cx="502920" cy="50292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737360" y="24688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 → 專家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737360" y="28346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將通用代理轉變為具備深度領域知識的專家，就像為團隊成員提供入職指南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3566160"/>
            <a:ext cx="73152" cy="10058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9" name="Shape 16"/>
          <p:cNvSpPr/>
          <p:nvPr/>
        </p:nvSpPr>
        <p:spPr>
          <a:xfrm>
            <a:off x="1005840" y="3794760"/>
            <a:ext cx="502920" cy="50292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10058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737360" y="365760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持續改進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737360" y="40233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隨著組織知識的累積，可以不斷更新和完善 Skill 的內容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優勢二：減少重複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188720"/>
            <a:ext cx="73152" cy="100584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7" name="Shape 4"/>
          <p:cNvSpPr/>
          <p:nvPr/>
        </p:nvSpPr>
        <p:spPr>
          <a:xfrm>
            <a:off x="1005840" y="1417320"/>
            <a:ext cx="502920" cy="502920"/>
          </a:xfrm>
          <a:prstGeom prst="ellipse">
            <a:avLst/>
          </a:prstGeom>
          <a:solidFill>
            <a:srgbClr val="6A9BCC">
              <a:alpha val="1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37360" y="12801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建立一次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737360" y="16459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將常用的工作流程、最佳實踐和操作指南封裝為 Skill，一勞永逸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237744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377440"/>
            <a:ext cx="73152" cy="100584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3" name="Shape 10"/>
          <p:cNvSpPr/>
          <p:nvPr/>
        </p:nvSpPr>
        <p:spPr>
          <a:xfrm>
            <a:off x="1005840" y="2606040"/>
            <a:ext cx="502920" cy="502920"/>
          </a:xfrm>
          <a:prstGeom prst="ellipse">
            <a:avLst/>
          </a:prstGeom>
          <a:solidFill>
            <a:srgbClr val="6A9BCC">
              <a:alpha val="1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737360" y="24688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自動使用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737360" y="28346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根據請求自動匹配和載入相關 Skill，無需手動指定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3566160"/>
            <a:ext cx="73152" cy="100584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9" name="Shape 16"/>
          <p:cNvSpPr/>
          <p:nvPr/>
        </p:nvSpPr>
        <p:spPr>
          <a:xfrm>
            <a:off x="1005840" y="3794760"/>
            <a:ext cx="502920" cy="502920"/>
          </a:xfrm>
          <a:prstGeom prst="ellipse">
            <a:avLst/>
          </a:prstGeom>
          <a:solidFill>
            <a:srgbClr val="6A9BCC">
              <a:alpha val="1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10058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737360" y="365760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團隊共享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737360" y="40233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透過 API 工作區或 Claude Code 專案級 Skills，團隊成員共享相同的專業知識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優勢三：組合能力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188720"/>
            <a:ext cx="73152" cy="100584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7" name="Shape 4"/>
          <p:cNvSpPr/>
          <p:nvPr/>
        </p:nvSpPr>
        <p:spPr>
          <a:xfrm>
            <a:off x="1005840" y="1417320"/>
            <a:ext cx="502920" cy="502920"/>
          </a:xfrm>
          <a:prstGeom prst="ellipse">
            <a:avLst/>
          </a:prstGeom>
          <a:solidFill>
            <a:srgbClr val="788C5D">
              <a:alpha val="1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37360" y="12801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Skill 協作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737360" y="16459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一個任務可以觸發多個 Skills，例如：分析 Excel → 生成圖表 → 輸出 PDF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237744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377440"/>
            <a:ext cx="73152" cy="100584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3" name="Shape 10"/>
          <p:cNvSpPr/>
          <p:nvPr/>
        </p:nvSpPr>
        <p:spPr>
          <a:xfrm>
            <a:off x="1005840" y="2606040"/>
            <a:ext cx="502920" cy="502920"/>
          </a:xfrm>
          <a:prstGeom prst="ellipse">
            <a:avLst/>
          </a:prstGeom>
          <a:solidFill>
            <a:srgbClr val="788C5D">
              <a:alpha val="1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737360" y="24688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模組化設計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737360" y="28346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每個 Skill 專注於一個領域，保持簡潔和可維護性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3566160"/>
            <a:ext cx="73152" cy="100584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9" name="Shape 16"/>
          <p:cNvSpPr/>
          <p:nvPr/>
        </p:nvSpPr>
        <p:spPr>
          <a:xfrm>
            <a:off x="1005840" y="3794760"/>
            <a:ext cx="502920" cy="502920"/>
          </a:xfrm>
          <a:prstGeom prst="ellipse">
            <a:avLst/>
          </a:prstGeom>
          <a:solidFill>
            <a:srgbClr val="788C5D">
              <a:alpha val="1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10058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737360" y="365760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靈活擴展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737360" y="40233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隨時添加新的 Skills 以應對新的業務需求，無需修改現有 Skills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三層漸進式載入模型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如何高效管理上下文視窗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三層載入模型總覽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利用 Claude 的 VM 環境，實現超越提示詞所能達到的能力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7680960" cy="960120"/>
          </a:xfrm>
          <a:prstGeom prst="rect">
            <a:avLst/>
          </a:prstGeom>
          <a:solidFill>
            <a:srgbClr val="1E1E1D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17320"/>
            <a:ext cx="73152" cy="9601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60020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元資料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始終載入  |  ~100 tokens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1554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YAML 前置資料的 name 和 description，提供 Skill 的發現資訊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7680960" cy="960120"/>
          </a:xfrm>
          <a:prstGeom prst="rect">
            <a:avLst/>
          </a:prstGeom>
          <a:solidFill>
            <a:srgbClr val="1E1E1D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560320"/>
            <a:ext cx="73152" cy="96012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274320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2880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9B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觸發時載入  |  &lt;5K tokens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2697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SKILL.md 主體包含程序性知識：工作流程、最佳實踐和操作指導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703320"/>
            <a:ext cx="7680960" cy="960120"/>
          </a:xfrm>
          <a:prstGeom prst="rect">
            <a:avLst/>
          </a:prstGeom>
          <a:solidFill>
            <a:srgbClr val="1E1E1D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703320"/>
            <a:ext cx="73152" cy="9601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5840" y="3886200"/>
            <a:ext cx="548640" cy="54864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82880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 &amp; 程式碼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2880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按需載入  |  無限制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0" y="3840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捆綁的腳本、範本、API 文件等。腳本執行只接收輸出，不消耗上下文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層：元資料（始終載入）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在啟動時載入所有 Skills 的元資料，並將其包含在系統提示中。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164592" cy="16459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810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每個 Skill 僅消耗約 100 tokens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164592" cy="16459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267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可安裝大量 Skills 而不產生上下文損耗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164592" cy="16459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724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只知道 Skill 的存在和何時使用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246120"/>
            <a:ext cx="164592" cy="16459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182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YAML 前置資料提供發現資訊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3840480" cy="2743200"/>
          </a:xfrm>
          <a:prstGeom prst="rect">
            <a:avLst/>
          </a:prstGeom>
          <a:solidFill>
            <a:srgbClr val="1E1E1D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前置資料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37160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pdf-processing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</a:t>
            </a: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text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tables from PDF files,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fill forms, merge documents.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 when working with PDF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files or when the user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mentions PDFs, forms, 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 extraction.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層：指令（觸發時載入）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當請求與 Skill 描述匹配時，Claude 透過 bash 讀取 SKILL.md，將程序性知識帶入上下文視窗。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737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54480"/>
            <a:ext cx="1737360" cy="4572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173736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使用者請求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觸發匹配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834640" y="1554480"/>
            <a:ext cx="1737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34640" y="1554480"/>
            <a:ext cx="1737360" cy="4572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4" name="Shape 12"/>
          <p:cNvSpPr/>
          <p:nvPr/>
        </p:nvSpPr>
        <p:spPr>
          <a:xfrm>
            <a:off x="3429000" y="173736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26080" y="23774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讀取 SKILL.md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2606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bash 命令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937760" y="1554480"/>
            <a:ext cx="1737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554480"/>
            <a:ext cx="1737360" cy="4572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21" name="Shape 19"/>
          <p:cNvSpPr/>
          <p:nvPr/>
        </p:nvSpPr>
        <p:spPr>
          <a:xfrm>
            <a:off x="5532120" y="173736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22" name="Text 20"/>
          <p:cNvSpPr/>
          <p:nvPr/>
        </p:nvSpPr>
        <p:spPr>
          <a:xfrm>
            <a:off x="55321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0" y="23774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指令入上下文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2606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工作流程載入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040880" y="1554480"/>
            <a:ext cx="1737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40880" y="1554480"/>
            <a:ext cx="1737360" cy="4572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28" name="Shape 26"/>
          <p:cNvSpPr/>
          <p:nvPr/>
        </p:nvSpPr>
        <p:spPr>
          <a:xfrm>
            <a:off x="7635240" y="173736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29" name="Text 27"/>
          <p:cNvSpPr/>
          <p:nvPr/>
        </p:nvSpPr>
        <p:spPr>
          <a:xfrm>
            <a:off x="7635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32320" y="23774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執行任務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2606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按指令操作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" y="3017520"/>
            <a:ext cx="7680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" y="3017520"/>
            <a:ext cx="73152" cy="128016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0" y="310896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SKILL.md 包含的內容：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工作流程步驟和操作指南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最佳實踐和常見錯誤避免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對其他捆綁檔案（如 FORMS.md、scripts/）的引用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具體範例和程式碼片段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層：SKILL.md 指令範例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3474720"/>
          </a:xfrm>
          <a:prstGeom prst="rect">
            <a:avLst/>
          </a:prstGeom>
          <a:solidFill>
            <a:srgbClr val="1E1E1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主體內容範例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PDF Processing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Quick start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pdfplumber to extract text from PDFs: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```python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pdfplumber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r>
              <a:rPr lang="en-US" sz="11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pdfplumber.open(</a:t>
            </a:r>
            <a:r>
              <a:rPr lang="en-US" sz="1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"document.pdf"</a:t>
            </a:r>
            <a:r>
              <a:rPr lang="en-US" sz="11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1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11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pdf: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pdf.pages[0].extract_text()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advanced form filling, see </a:t>
            </a:r>
            <a:r>
              <a:rPr lang="en-US" sz="1100" b="1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FORMS.md</a:t>
            </a:r>
            <a:r>
              <a:rPr lang="en-US" sz="11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層：資源和程式碼（按需載入）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4231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2423160" cy="457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34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指令檔案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額外 Markdown（FORMS.md、REFERENCE.md）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包含專門的指導和工作流程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4231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2423160" cy="4572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234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可執行腳本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1600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/ JS 腳本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透過 bash 執行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只接收輸出不消耗上下文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4231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97280"/>
            <a:ext cx="2423160" cy="457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234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參考資源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6002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資料庫結構、API 文件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範本、範例檔案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未存取時消耗零 tokens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7680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017520"/>
            <a:ext cx="73152" cy="11887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1089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腳本執行的效率優勢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當 Claude 執行 validate_form.py 時，腳本的程式碼永遠不會載入上下文視窗。只有腳本的輸出（如「驗證通過」或特定錯誤訊息）消耗 tokens。這使得腳本比讓 Claude 即時生成等效程式碼要高效得多。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層：Skill 目錄結構範例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4572000" cy="3474720"/>
          </a:xfrm>
          <a:prstGeom prst="rect">
            <a:avLst/>
          </a:prstGeom>
          <a:solidFill>
            <a:srgbClr val="1E1E1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pdf-skill/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pdf-skill/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5727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SKILL.md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5727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← 主要指令（第 2 層）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7739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17739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工作流程、最佳實踐、操作指南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19751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FORMS.md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← 表單填寫專門指南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21762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2176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進階表單處理的詳細步驟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2377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REFERENCE.md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23774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← 詳細 API 參考文件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25786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25786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pdfplumber API、參數說明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27797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27797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← 範本目錄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29809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invoice.json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29809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發票範本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31821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report.json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31821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報告範本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" y="3383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scripts/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33832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← 腳本目錄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" y="35844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fill_form.py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0" y="35844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表單填寫腳本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37856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validate.py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37856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驗證腳本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5840" y="39867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merge_pdfs.py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0" y="39867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合併 PDF 腳本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0" y="1005840"/>
            <a:ext cx="2926080" cy="914400"/>
          </a:xfrm>
          <a:prstGeom prst="rect">
            <a:avLst/>
          </a:prstGeom>
          <a:solidFill>
            <a:srgbClr val="1E1E1D"/>
          </a:solidFill>
          <a:ln/>
        </p:spPr>
      </p:sp>
      <p:sp>
        <p:nvSpPr>
          <p:cNvPr id="34" name="Shape 32"/>
          <p:cNvSpPr/>
          <p:nvPr/>
        </p:nvSpPr>
        <p:spPr>
          <a:xfrm>
            <a:off x="5669280" y="1005840"/>
            <a:ext cx="54864" cy="9144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0" y="10515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層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0" y="1280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主要指令檔案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觸發時載入上下文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2148840"/>
            <a:ext cx="2926080" cy="914400"/>
          </a:xfrm>
          <a:prstGeom prst="rect">
            <a:avLst/>
          </a:prstGeom>
          <a:solidFill>
            <a:srgbClr val="1E1E1D"/>
          </a:solidFill>
          <a:ln/>
        </p:spPr>
      </p:sp>
      <p:sp>
        <p:nvSpPr>
          <p:cNvPr id="38" name="Shape 36"/>
          <p:cNvSpPr/>
          <p:nvPr/>
        </p:nvSpPr>
        <p:spPr>
          <a:xfrm>
            <a:off x="5669280" y="2148840"/>
            <a:ext cx="54864" cy="91440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0" y="21945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層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43600" y="2423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FORMS.md, REFERENCE.md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額外指令檔案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被引用時才載入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0" y="3291840"/>
            <a:ext cx="2926080" cy="914400"/>
          </a:xfrm>
          <a:prstGeom prst="rect">
            <a:avLst/>
          </a:prstGeom>
          <a:solidFill>
            <a:srgbClr val="1E1E1D"/>
          </a:solidFill>
          <a:ln/>
        </p:spPr>
      </p:sp>
      <p:sp>
        <p:nvSpPr>
          <p:cNvPr id="42" name="Shape 40"/>
          <p:cNvSpPr/>
          <p:nvPr/>
        </p:nvSpPr>
        <p:spPr>
          <a:xfrm>
            <a:off x="5669280" y="3291840"/>
            <a:ext cx="54864" cy="91440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0" y="33375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層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0" y="3566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scripts/ 目錄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可執行腳本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輸出進入上下文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程式碼本身不載入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成本效率比較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漸進式揭露確保在任何給定時間只有相關內容佔用上下文視窗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層級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載入時機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成本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內容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AF9F5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第 1 層：元資料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AEA5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始終（啟動時）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5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~100 tokens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AEA5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name 和 description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AF9F5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第 2 層：指令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AEA5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Skill 被觸發時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A9BC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&lt;5K tokens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AEA5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SKILL.md 主體指令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AF9F5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第 3 層：資源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0AEA5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按需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88C5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實際上無限制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B0AEA5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腳本和捆綁檔案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474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對比：傳統提示詞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3794760"/>
            <a:ext cx="7680960" cy="640080"/>
          </a:xfrm>
          <a:prstGeom prst="rect">
            <a:avLst/>
          </a:prstGeom>
          <a:solidFill>
            <a:srgbClr val="1E1E1D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840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提示詞模式：</a:t>
            </a:r>
            <a:r>
              <a:rPr lang="en-US" sz="12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所有指令始終佔用上下文 → 大量重複 → 容易超出上下文限制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架構與運作流程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從啟動到執行的完整生命週期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架構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E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虛擬機器（VM）環境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7280" y="1463040"/>
            <a:ext cx="2926080" cy="1188720"/>
          </a:xfrm>
          <a:prstGeom prst="rect">
            <a:avLst/>
          </a:prstGeom>
          <a:solidFill>
            <a:srgbClr val="D97757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463040"/>
            <a:ext cx="2926080" cy="457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代理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上下文視窗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bash 命令存取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程式碼執行能力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 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212080" y="1463040"/>
            <a:ext cx="2743200" cy="2560320"/>
          </a:xfrm>
          <a:prstGeom prst="rect">
            <a:avLst/>
          </a:prstGeom>
          <a:solidFill>
            <a:srgbClr val="6A9BCC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12080" y="1463040"/>
            <a:ext cx="2743200" cy="4572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檔案系統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965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pptx-skill/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22037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SKILL.md, scripts/...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24414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xlsx-skill/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26791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SKILL.md, scripts/...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0" y="29169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pdf-skill/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31546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SKILL.md, FORMS.md...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33924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custom-skill/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36301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SKILL.md, ref/...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97280" y="3246120"/>
            <a:ext cx="137160" cy="13716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3" name="Text 21"/>
          <p:cNvSpPr/>
          <p:nvPr/>
        </p:nvSpPr>
        <p:spPr>
          <a:xfrm>
            <a:off x="1325880" y="32004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按需檔案存取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25880" y="34015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只讀取任務所需的檔案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66160" y="3246120"/>
            <a:ext cx="137160" cy="13716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26" name="Text 24"/>
          <p:cNvSpPr/>
          <p:nvPr/>
        </p:nvSpPr>
        <p:spPr>
          <a:xfrm>
            <a:off x="3794760" y="32004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高效腳本執行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94760" y="34015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程式碼不載入上下文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3246120"/>
            <a:ext cx="137160" cy="13716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32004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無限捆綁內容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34015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未存取檔案消耗零 token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如何存取 Skill 內容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124712"/>
            <a:ext cx="411480" cy="4114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15568" y="1536192"/>
            <a:ext cx="0" cy="338328"/>
          </a:xfrm>
          <a:prstGeom prst="line">
            <a:avLst/>
          </a:prstGeom>
          <a:noFill/>
          <a:ln w="12700">
            <a:solidFill>
              <a:srgbClr val="E8E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06984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被觸發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35331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使用者請求匹配某個 Skill 的 description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874520"/>
            <a:ext cx="411480" cy="41148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15568" y="2286000"/>
            <a:ext cx="0" cy="338328"/>
          </a:xfrm>
          <a:prstGeom prst="line">
            <a:avLst/>
          </a:prstGeom>
          <a:noFill/>
          <a:ln w="12700">
            <a:solidFill>
              <a:srgbClr val="E8E6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181965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讀取 SKILL.md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10312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使用 bash 從檔案系統讀取主要指令檔案，帶入上下文視窗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2624328"/>
            <a:ext cx="411480" cy="41148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15568" y="3035808"/>
            <a:ext cx="0" cy="338328"/>
          </a:xfrm>
          <a:prstGeom prst="line">
            <a:avLst/>
          </a:prstGeom>
          <a:noFill/>
          <a:ln w="12700">
            <a:solidFill>
              <a:srgbClr val="E8E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56946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選擇性讀取額外檔案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28529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若指令引用其他檔案（如 FORMS.md），Claude 使用額外 bash 命令讀取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374136"/>
            <a:ext cx="411480" cy="4114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374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15568" y="3785616"/>
            <a:ext cx="0" cy="338328"/>
          </a:xfrm>
          <a:prstGeom prst="line">
            <a:avLst/>
          </a:prstGeom>
          <a:noFill/>
          <a:ln w="12700">
            <a:solidFill>
              <a:srgbClr val="E8E6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331927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執行腳本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360273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透過 bash 執行腳本，只接收輸出結果（腳本程式碼不進入上下文）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4123944"/>
            <a:ext cx="411480" cy="41148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123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54480" y="406908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完成任務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4352544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根據載入的指令和腳本輸出完成使用者的請求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範例：載入 PDF 處理 Skill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078992"/>
            <a:ext cx="411480" cy="4114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15568" y="1490472"/>
            <a:ext cx="0" cy="32004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024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啟動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10241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系統提示包含：PDF Processing - Extract text and tables from PDF files...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810512"/>
            <a:ext cx="411480" cy="41148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15568" y="2221992"/>
            <a:ext cx="0" cy="32004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1755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使用者請求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7556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「從這個 PDF 中提取文字並進行摘要」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2542032"/>
            <a:ext cx="411480" cy="41148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15568" y="2953512"/>
            <a:ext cx="0" cy="32004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487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觸發讀取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24871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呼叫 bash: read pdf-skill/SKILL.md → 指令載入上下文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273552"/>
            <a:ext cx="411480" cy="41148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273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15568" y="3685032"/>
            <a:ext cx="0" cy="32004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3218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智慧判斷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32186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不需要表單填寫 → 不讀取 FORMS.md（節省 tokens）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4005072"/>
            <a:ext cx="411480" cy="41148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54480" y="3950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執行任務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83280" y="39502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 SKILL.md 中的指令呼叫 pdfplumber 完成 PDF 文字提取和摘要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目錄結構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 SKILL.md 詳解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深入了解 Skill 的組成與撰寫方式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目錄結構全覽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每個 Skill 是一個包含 SKILL.md 和可選資源的目錄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657600" cy="1554480"/>
          </a:xfrm>
          <a:prstGeom prst="rect">
            <a:avLst/>
          </a:prstGeom>
          <a:solidFill>
            <a:srgbClr val="1E1E1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 Skill（僅需一個檔案）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my-skill/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SKILL.md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my-skill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---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657600" cy="3108960"/>
          </a:xfrm>
          <a:prstGeom prst="rect">
            <a:avLst/>
          </a:prstGeom>
          <a:solidFill>
            <a:srgbClr val="1E1E1D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 Skill（含所有可選資源）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pdf-skill/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SKILL.md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(主要指令 - 必需)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FORMS.md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(額外指令 - 可選)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REFERENCE.md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(API 參考 - 可選)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invoice.json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report.json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schema.sql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scripts/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fill_form.py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validate.py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merge_pdfs.py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3657600" cy="640080"/>
          </a:xfrm>
          <a:prstGeom prst="rect">
            <a:avLst/>
          </a:prstGeom>
          <a:solidFill>
            <a:srgbClr val="D97757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54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唯一必需的檔案是 SKILL.md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其他所有資源均為可選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完整範例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3566160"/>
          </a:xfrm>
          <a:prstGeom prst="rect">
            <a:avLst/>
          </a:prstGeom>
          <a:solidFill>
            <a:srgbClr val="1E1E1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51560"/>
            <a:ext cx="7132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</a:t>
            </a: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code for bugs, security issues,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best practices. Use when user asks for code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review, audit, or quality check.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Review Skill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Instructions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Read the code file completely before reviewing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Check for: bugs, security vulnerabilities, performance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Run `python scripts/lint_check.py &lt;file&gt;` for static analysis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Provide actionable suggestions with code examples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Checklist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</a:t>
            </a:r>
            <a:r>
              <a:rPr lang="en-US" sz="11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CHECKLIST.md</a:t>
            </a:r>
            <a:r>
              <a:rPr lang="en-US" sz="11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 the full review checklist.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Examples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</a:t>
            </a:r>
            <a:r>
              <a:rPr lang="en-US" sz="11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examples/</a:t>
            </a:r>
            <a:r>
              <a:rPr lang="en-US" sz="11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directory for sample review outputs.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必填欄位要求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23774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1887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必填欄位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最多 64 個字元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只能包含小寫字母、數字和連字號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不能包含 XML 標籤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不能包含保留字：</a:t>
            </a:r>
            <a:r>
              <a:rPr lang="en-US" sz="12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anthropic、claude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範例：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pdf-processing  ✓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code-review     ✓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CC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MySkill         ✗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73152" cy="237744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1887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A9B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必填欄位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不能為空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最多 1024 個字元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不能包含 XML 標籤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應包含功能和觸發條件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好的 description 應該：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1. 說明 Skill 做什麼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2. 說明何時使用它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3. 列出觸發關鍵詞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solidFill>
            <a:srgbClr val="D97757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94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 是 Claude 決定是否觸發 Skill 的唯一依據 — 撰寫清晰的描述至關重要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建議內容結構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51560"/>
            <a:ext cx="64008" cy="62179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188720"/>
            <a:ext cx="640080" cy="320040"/>
          </a:xfrm>
          <a:prstGeom prst="rect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88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097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 前置資料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10972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+ description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用來決定何時觸發此 Skill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801368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801368"/>
            <a:ext cx="64008" cy="621792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1938528"/>
            <a:ext cx="640080" cy="320040"/>
          </a:xfrm>
          <a:prstGeom prst="rect">
            <a:avLst/>
          </a:prstGeom>
          <a:solidFill>
            <a:srgbClr val="6A9BCC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385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標題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184708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的名稱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清晰表達此 Skill 的用途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551176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2551176"/>
            <a:ext cx="64008" cy="621792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" y="2688336"/>
            <a:ext cx="640080" cy="320040"/>
          </a:xfrm>
          <a:prstGeom prst="rect">
            <a:avLst/>
          </a:prstGeom>
          <a:solidFill>
            <a:srgbClr val="6A9BCC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68833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0" y="2596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Instructions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0" y="259689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詳細的操作步驟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工作流程、最佳實踐、操作指南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300984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300984"/>
            <a:ext cx="64008" cy="621792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5840" y="3438144"/>
            <a:ext cx="640080" cy="320040"/>
          </a:xfrm>
          <a:prstGeom prst="rect">
            <a:avLst/>
          </a:prstGeom>
          <a:solidFill>
            <a:srgbClr val="6A9BCC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43814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3346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Examples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89120" y="334670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具體範例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輸入/輸出示範、程式碼片段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050792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050792"/>
            <a:ext cx="64008" cy="621792"/>
          </a:xfrm>
          <a:prstGeom prst="rect">
            <a:avLst/>
          </a:prstGeom>
          <a:solidFill>
            <a:srgbClr val="B0AEA5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5840" y="4187952"/>
            <a:ext cx="640080" cy="320040"/>
          </a:xfrm>
          <a:prstGeom prst="rect">
            <a:avLst/>
          </a:prstGeom>
          <a:solidFill>
            <a:srgbClr val="B0AEA5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1879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28800" y="4096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額外章節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389120" y="40965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錯誤處理、進階用法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對其他檔案的引用連結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跨平台可用性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在 Claude 各產品中的支援情況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solidFill>
            <a:srgbClr val="D97757">
              <a:alpha val="1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143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支援預建 Agent Skills 和自訂 Skills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920240"/>
            <a:ext cx="64008" cy="5486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1965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使用方式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1762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 container 參數中指定 skill_id（如 pptx、xlsx），搭配程式碼執行工具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26060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606040"/>
            <a:ext cx="64008" cy="5486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26517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所需 Beta 標頭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28620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code-execution-2025-08-25、skills-2025-10-02、files-api-2025-04-14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1520" y="3291840"/>
            <a:ext cx="64008" cy="5486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33375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自訂 Skills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" y="35478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透過 /v1/skills 端點上傳和管理，在整個工作區範圍內共享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39776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31520" y="3977640"/>
            <a:ext cx="64008" cy="5486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1005840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網路限制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05840" y="42336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無法進行外部 API 呼叫或存取網際網路，僅使用預安裝套件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與 Agent SDK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51560"/>
            <a:ext cx="3657600" cy="45720"/>
          </a:xfrm>
          <a:prstGeom prst="rect">
            <a:avLst/>
          </a:prstGeom>
          <a:solidFill>
            <a:srgbClr val="6A9BC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6459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9B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僅支援自訂 Skills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建立包含 SKILL.md 的目錄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Claude 自動發現並使用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基於檔案系統，不需 API 上傳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個人 (~/.claude/skills/) 或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專案級 (.claude/skills/)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完整網路存取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51560"/>
            <a:ext cx="3657600" cy="45720"/>
          </a:xfrm>
          <a:prstGeom prst="rect">
            <a:avLst/>
          </a:prstGeom>
          <a:solidFill>
            <a:srgbClr val="788C5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SDK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37760" y="16459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88C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支援自訂 Skills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在 .claude/skills/ 目錄建立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在 allowed_tools 中啟用 "Skill"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SDK 運行時自動發現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支援 TypeScript 和 Python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基於檔案系統的配置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52044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520440"/>
            <a:ext cx="64008" cy="7315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2"/>
          <p:cNvSpPr/>
          <p:nvPr/>
        </p:nvSpPr>
        <p:spPr>
          <a:xfrm>
            <a:off x="1097280" y="36118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共享提示：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 也可以透過 Plugins 共享 Skills。將 Skills 打包為 Plugin 後，團隊成員可以輕鬆安裝和使用。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與預建 Skills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05156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051560"/>
            <a:ext cx="3657600" cy="457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支援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15544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預建 Skills：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無需設定，Claude 自動使用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A9B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自訂 Skills：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透過 設定 &gt; 功能 上傳 zip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適用 Pro、Max、Team、Enterprise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僅限個人使用者（不跨組織共享）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預建 Agent Skills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657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63040"/>
            <a:ext cx="54864" cy="4114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4904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(pptx)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0" y="16733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建立、編輯、分析簡報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965960"/>
            <a:ext cx="3657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965960"/>
            <a:ext cx="54864" cy="41148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19933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(xlsx)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0" y="217627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建立試算表、分析資料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2468880"/>
            <a:ext cx="3657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468880"/>
            <a:ext cx="54864" cy="41148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0" y="2496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(docx)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0" y="26791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建立和編輯文件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54880" y="2971800"/>
            <a:ext cx="3657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54880" y="2971800"/>
            <a:ext cx="54864" cy="41148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0" y="29992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(pdf)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29200" y="318211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生成和處理 PDF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1520" y="338328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31520" y="3383280"/>
            <a:ext cx="64008" cy="86868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28" name="Text 25"/>
          <p:cNvSpPr/>
          <p:nvPr/>
        </p:nvSpPr>
        <p:spPr>
          <a:xfrm>
            <a:off x="1097280" y="34747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跨平台注意事項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自訂 Skills 不會跨平台同步。上傳到 Claude.ai 的 Skills 必須另外上傳到 API。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需要為每個平台分別管理和上傳。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8288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安全考量與限制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 Skills 時需要注意的事項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安全考量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僅使用來自可信來源的 Skills：您自己建立的或從 Anthropic 獲取的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325880"/>
            <a:ext cx="7680960" cy="502920"/>
          </a:xfrm>
          <a:prstGeom prst="rect">
            <a:avLst/>
          </a:prstGeom>
          <a:solidFill>
            <a:srgbClr val="1E1E1D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325880"/>
            <a:ext cx="54864" cy="5029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353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徹底審查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55448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檢查 Skill 中所有檔案：SKILL.md、腳本、圖片和其他資源。注意異常模式如意外的網路呼叫或檔案存取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1965960"/>
            <a:ext cx="7680960" cy="502920"/>
          </a:xfrm>
          <a:prstGeom prst="rect">
            <a:avLst/>
          </a:prstGeom>
          <a:solidFill>
            <a:srgbClr val="1E1E1D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965960"/>
            <a:ext cx="54864" cy="50292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19933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外部來源有風險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219456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從外部 URL 獲取資料的 Skills 具有特別風險，因為獲取的內容可能包含惡意指令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31520" y="2606040"/>
            <a:ext cx="7680960" cy="502920"/>
          </a:xfrm>
          <a:prstGeom prst="rect">
            <a:avLst/>
          </a:prstGeom>
          <a:solidFill>
            <a:srgbClr val="1E1E1D"/>
          </a:solidFill>
          <a:ln/>
        </p:spPr>
      </p:sp>
      <p:sp>
        <p:nvSpPr>
          <p:cNvPr id="15" name="Shape 12"/>
          <p:cNvSpPr/>
          <p:nvPr/>
        </p:nvSpPr>
        <p:spPr>
          <a:xfrm>
            <a:off x="731520" y="2606040"/>
            <a:ext cx="54864" cy="5029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26334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工具濫用風險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" y="283464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惡意 Skills 可以以有害方式呼叫工具：檔案操作、bash 命令、程式碼執行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1520" y="3246120"/>
            <a:ext cx="7680960" cy="502920"/>
          </a:xfrm>
          <a:prstGeom prst="rect">
            <a:avLst/>
          </a:prstGeom>
          <a:solidFill>
            <a:srgbClr val="1E1E1D"/>
          </a:solidFill>
          <a:ln/>
        </p:spPr>
      </p:sp>
      <p:sp>
        <p:nvSpPr>
          <p:cNvPr id="19" name="Shape 16"/>
          <p:cNvSpPr/>
          <p:nvPr/>
        </p:nvSpPr>
        <p:spPr>
          <a:xfrm>
            <a:off x="731520" y="3246120"/>
            <a:ext cx="54864" cy="5029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0" name="Text 17"/>
          <p:cNvSpPr/>
          <p:nvPr/>
        </p:nvSpPr>
        <p:spPr>
          <a:xfrm>
            <a:off x="1005840" y="32735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資料暴露風險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05840" y="347472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具有敏感資料存取權限的 Skills 可能被設計為向外部系統洩露資訊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視同安裝軟體 — 在生產系統中使用時要特別小心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限制與約束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51560"/>
            <a:ext cx="3657600" cy="457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共享範圍限制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Claude.ai: </a:t>
            </a: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僅個人使用者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API: </a:t>
            </a: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工作區範圍共享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Code: </a:t>
            </a: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個人或專案級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Claude.ai 目前不支援集中式管理員管理或組織範圍的自訂 Skills 分發。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3657600" cy="4572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執行環境約束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Claude.ai: </a:t>
            </a: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不同網路存取等級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API: </a:t>
            </a: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無網路、無執行時安裝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Code: </a:t>
            </a:r>
            <a:r>
              <a:rPr lang="en-US" sz="11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完整網路存取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A9B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請規劃您的 Skills 以在這些約束條件下運作。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7680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880360"/>
            <a:ext cx="7680960" cy="4572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跨平台不同步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33756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上傳到 Claude.ai 的 Skills 必須另外上傳到 API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352044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透過 API 上傳的 Skills 在 Claude.ai 上不可用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370332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Claude Code Skills 基於檔案系統，與 Claude.ai 和 API 都是分開的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388620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需要為每個想要使用 Skills 的平台分別管理和上傳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| Agent Skills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914400"/>
            <a:ext cx="109728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後續步驟</a:t>
            </a:r>
            <a:endParaRPr lang="en-US" sz="4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6654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011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快速入門教學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0" y="2011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開始在 API 中使用預建 Skills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50545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450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指南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114800" y="24505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透過 Claude API 使用 Skills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94436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8895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114800" y="28895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 Claude Code 中建立和管理 Skills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8328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3284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SDK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4114800" y="33284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以程式化方式使用 Skills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22192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37673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最佳實踐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4114800" y="37673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撰寫高效的 Skill 內容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61104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371600" y="4206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Cookbook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4114800" y="4206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完整的自訂 Skills 範例和教學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0" y="475488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4" name="Text 16"/>
          <p:cNvSpPr/>
          <p:nvPr/>
        </p:nvSpPr>
        <p:spPr>
          <a:xfrm>
            <a:off x="731520" y="45720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platform.claude.com/docs/agents-and-tools/agent-skills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1955</Words>
  <Application>Microsoft Macintosh PowerPoint</Application>
  <PresentationFormat>如螢幕大小 (16:9)</PresentationFormat>
  <Paragraphs>604</Paragraphs>
  <Slides>35</Slides>
  <Notes>35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39" baseType="lpstr">
      <vt:lpstr>Arial</vt:lpstr>
      <vt:lpstr>Consolas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Skills - 擴展 Claude 的模組化能力</dc:title>
  <dc:subject>PptxGenJS Presentation</dc:subject>
  <dc:creator>Anthropic</dc:creator>
  <cp:lastModifiedBy>Josh Hu</cp:lastModifiedBy>
  <cp:revision>1</cp:revision>
  <dcterms:created xsi:type="dcterms:W3CDTF">2026-02-10T17:02:47Z</dcterms:created>
  <dcterms:modified xsi:type="dcterms:W3CDTF">2026-02-10T17:18:19Z</dcterms:modified>
</cp:coreProperties>
</file>