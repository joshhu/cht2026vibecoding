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C2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103628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8A8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Code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14400" y="2011680"/>
            <a:ext cx="103628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記憶系統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3017520"/>
            <a:ext cx="103628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CLAUDE.md、自動記憶與規則管理的完整指南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0" y="3657600"/>
            <a:ext cx="6705295" cy="54864"/>
          </a:xfrm>
          <a:prstGeom prst="rect">
            <a:avLst/>
          </a:prstGeom>
          <a:solidFill>
            <a:srgbClr val="E8A87C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5029200"/>
            <a:ext cx="103628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7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來源：code.claude.com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9E4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D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目錄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2560320" cy="731520"/>
          </a:xfrm>
          <a:prstGeom prst="roundRect">
            <a:avLst/>
          </a:prstGeom>
          <a:solidFill>
            <a:srgbClr val="C75B39"/>
          </a:solidFill>
          <a:ln w="25400">
            <a:solidFill>
              <a:srgbClr val="D4763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2344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" y="15087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記憶概述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383280" y="1188720"/>
            <a:ext cx="2560320" cy="731520"/>
          </a:xfrm>
          <a:prstGeom prst="roundRect">
            <a:avLst/>
          </a:prstGeom>
          <a:solidFill>
            <a:srgbClr val="C75B39"/>
          </a:solidFill>
          <a:ln w="25400">
            <a:solidFill>
              <a:srgbClr val="D4763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83280" y="12344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520440" y="15087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 檔案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26480" y="1188720"/>
            <a:ext cx="2560320" cy="731520"/>
          </a:xfrm>
          <a:prstGeom prst="roundRect">
            <a:avLst/>
          </a:prstGeom>
          <a:solidFill>
            <a:srgbClr val="C75B39"/>
          </a:solidFill>
          <a:ln w="25400">
            <a:solidFill>
              <a:srgbClr val="D4763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26480" y="12344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263640" y="15087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.claude/rules/ 規則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2286000"/>
            <a:ext cx="2560320" cy="731520"/>
          </a:xfrm>
          <a:prstGeom prst="roundRect">
            <a:avLst/>
          </a:prstGeom>
          <a:solidFill>
            <a:srgbClr val="C75B39"/>
          </a:solidFill>
          <a:ln w="25400">
            <a:solidFill>
              <a:srgbClr val="D4763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" y="23317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77240" y="26060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@import 匯入語法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383280" y="2286000"/>
            <a:ext cx="2560320" cy="731520"/>
          </a:xfrm>
          <a:prstGeom prst="roundRect">
            <a:avLst/>
          </a:prstGeom>
          <a:solidFill>
            <a:srgbClr val="C75B39"/>
          </a:solidFill>
          <a:ln w="25400">
            <a:solidFill>
              <a:srgbClr val="D4763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383280" y="23317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520440" y="26060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自動記憶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126480" y="2286000"/>
            <a:ext cx="2560320" cy="731520"/>
          </a:xfrm>
          <a:prstGeom prst="roundRect">
            <a:avLst/>
          </a:prstGeom>
          <a:solidFill>
            <a:srgbClr val="C75B39"/>
          </a:solidFill>
          <a:ln w="25400">
            <a:solidFill>
              <a:srgbClr val="D4763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126480" y="23317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263640" y="26060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疑難排解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7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0" y="6583680"/>
            <a:ext cx="9144000" cy="256032"/>
          </a:xfrm>
          <a:prstGeom prst="rect">
            <a:avLst/>
          </a:prstGeom>
          <a:solidFill>
            <a:srgbClr val="F9E4D4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6601968"/>
            <a:ext cx="11247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7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官方文件 — 記憶系統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5C2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743200"/>
            <a:ext cx="103628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記憶概述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2743200" y="3840480"/>
            <a:ext cx="6705295" cy="73152"/>
          </a:xfrm>
          <a:prstGeom prst="rect">
            <a:avLst/>
          </a:prstGeom>
          <a:solidFill>
            <a:srgbClr val="E8A87C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7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9E4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D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CLAUDE.md vs 自動記憶</a:t>
            </a:r>
            <a:endParaRPr lang="en-US" sz="3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11247120" cy="4846320"/>
        </p:xfrm>
        <a:graphic>
          <a:graphicData uri="http://schemas.openxmlformats.org/drawingml/2006/table">
            <a:tbl>
              <a:tblPr/>
              <a:tblGrid>
                <a:gridCol w="2194560"/>
                <a:gridCol w="4526280"/>
                <a:gridCol w="452628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項目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5B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5B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5B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5B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CLAUDE.md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5B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5B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5B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5B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自動記憶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5B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5B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5B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5B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D2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撰寫者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5B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5B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5B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5B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D2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您（使用者）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5B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5B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5B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5B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D2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5B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5B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5B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5B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D2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內容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5B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5B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5B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5B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D2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指令與規則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5B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5B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5B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5B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D2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學習與模式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5B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5B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5B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5B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D2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範圍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5B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5B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5B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5B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D2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專案/使用者/組織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5B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5B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5B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5B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D2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每個工作目錄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5B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5B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5B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5B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D2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載入方式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5B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5B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5B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5B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D2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每次工作階段（完整載入）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5B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5B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5B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5B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D2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每次工作階段（前200行）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5B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5B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5B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5B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D2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用途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5B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5B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5B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5B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D2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編碼標準、工作流程、架構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5B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5B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5B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5B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D2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建置命令、除錯心得、偏好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5B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5B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5B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5B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7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0" y="6583680"/>
            <a:ext cx="9144000" cy="256032"/>
          </a:xfrm>
          <a:prstGeom prst="rect">
            <a:avLst/>
          </a:prstGeom>
          <a:solidFill>
            <a:srgbClr val="F9E4D4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6601968"/>
            <a:ext cx="11247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7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官方文件 — 記憶系統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9E4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D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記憶層級架構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1247120" cy="731520"/>
          </a:xfrm>
          <a:prstGeom prst="rect">
            <a:avLst/>
          </a:prstGeom>
          <a:solidFill>
            <a:srgbClr val="FFFFFF"/>
          </a:solidFill>
          <a:ln w="25400">
            <a:solidFill>
              <a:srgbClr val="C75B3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344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75B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88720" y="117043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管理政策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0" y="117043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75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/Library/Application Support/ClaudeCode/CLAUDE.md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046720" y="117043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組織層級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760720" y="1837944"/>
            <a:ext cx="914400" cy="27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07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優先級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57200" y="1874520"/>
            <a:ext cx="11247120" cy="731520"/>
          </a:xfrm>
          <a:prstGeom prst="rect">
            <a:avLst/>
          </a:prstGeom>
          <a:solidFill>
            <a:srgbClr val="FFF0E5"/>
          </a:solidFill>
          <a:ln w="25400">
            <a:solidFill>
              <a:srgbClr val="C75B3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0116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75B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88720" y="194767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專案指令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57600" y="194767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75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./CLAUDE.md 或 ./.claude/CLAUDE.md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046720" y="194767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團隊共享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760720" y="2615184"/>
            <a:ext cx="914400" cy="27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07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優先級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57200" y="2651760"/>
            <a:ext cx="11247120" cy="731520"/>
          </a:xfrm>
          <a:prstGeom prst="rect">
            <a:avLst/>
          </a:prstGeom>
          <a:solidFill>
            <a:srgbClr val="FFFFFF"/>
          </a:solidFill>
          <a:ln w="25400">
            <a:solidFill>
              <a:srgbClr val="C75B3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27889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75B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188720" y="272491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專案規則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657600" y="272491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75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.claude/rules/*.md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046720" y="272491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模組化主題指令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760720" y="3392424"/>
            <a:ext cx="914400" cy="27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07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優先級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57200" y="3429000"/>
            <a:ext cx="11247120" cy="731520"/>
          </a:xfrm>
          <a:prstGeom prst="rect">
            <a:avLst/>
          </a:prstGeom>
          <a:solidFill>
            <a:srgbClr val="FFF0E5"/>
          </a:solidFill>
          <a:ln w="25400">
            <a:solidFill>
              <a:srgbClr val="C75B3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35661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75B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188720" y="350215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使用者指令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657600" y="350215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75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~/.claude/CLAUDE.md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046720" y="350215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個人偏好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760720" y="4169664"/>
            <a:ext cx="914400" cy="27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07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優先級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57200" y="4206240"/>
            <a:ext cx="11247120" cy="731520"/>
          </a:xfrm>
          <a:prstGeom prst="rect">
            <a:avLst/>
          </a:prstGeom>
          <a:solidFill>
            <a:srgbClr val="FFFFFF"/>
          </a:solidFill>
          <a:ln w="25400">
            <a:solidFill>
              <a:srgbClr val="C75B3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43434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75B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1188720" y="427939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本機指令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657600" y="427939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75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./CLAUDE.local.md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046720" y="427939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個人專案設定（不入版控）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760720" y="4946904"/>
            <a:ext cx="914400" cy="27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07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優先級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57200" y="4983480"/>
            <a:ext cx="11247120" cy="731520"/>
          </a:xfrm>
          <a:prstGeom prst="rect">
            <a:avLst/>
          </a:prstGeom>
          <a:solidFill>
            <a:srgbClr val="FFF0E5"/>
          </a:solidFill>
          <a:ln w="25400">
            <a:solidFill>
              <a:srgbClr val="E07B4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40080" y="51206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75B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1188720" y="505663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自動記憶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3657600" y="505663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75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~/.claude/projects/&lt;project&gt;/memory/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046720" y="505663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自動筆記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57200" y="5943600"/>
            <a:ext cx="11247120" cy="228600"/>
          </a:xfrm>
          <a:prstGeom prst="rect">
            <a:avLst/>
          </a:prstGeom>
          <a:solidFill>
            <a:srgbClr val="E07B4C"/>
          </a:solidFill>
          <a:ln/>
        </p:spPr>
      </p:sp>
      <p:sp>
        <p:nvSpPr>
          <p:cNvPr id="40" name="Text 38"/>
          <p:cNvSpPr/>
          <p:nvPr/>
        </p:nvSpPr>
        <p:spPr>
          <a:xfrm>
            <a:off x="640080" y="5961888"/>
            <a:ext cx="1088136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越具體的位置優先級越高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7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0" y="6583680"/>
            <a:ext cx="9144000" cy="256032"/>
          </a:xfrm>
          <a:prstGeom prst="rect">
            <a:avLst/>
          </a:prstGeom>
          <a:solidFill>
            <a:srgbClr val="F9E4D4"/>
          </a:solidFill>
          <a:ln/>
        </p:spPr>
      </p:sp>
      <p:sp>
        <p:nvSpPr>
          <p:cNvPr id="43" name="Text 41"/>
          <p:cNvSpPr/>
          <p:nvPr/>
        </p:nvSpPr>
        <p:spPr>
          <a:xfrm>
            <a:off x="457200" y="6601968"/>
            <a:ext cx="11247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7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官方文件 — 記憶系統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5C2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743200"/>
            <a:ext cx="103628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CLAUDE.md 檔案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2743200" y="3840480"/>
            <a:ext cx="6705295" cy="73152"/>
          </a:xfrm>
          <a:prstGeom prst="rect">
            <a:avLst/>
          </a:prstGeom>
          <a:solidFill>
            <a:srgbClr val="E8A87C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7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9E4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D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CLAUDE.md 存放位置</a:t>
            </a:r>
            <a:endParaRPr lang="en-US" sz="3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11247120" cy="4846320"/>
        </p:xfrm>
        <a:graphic>
          <a:graphicData uri="http://schemas.openxmlformats.org/drawingml/2006/table">
            <a:tbl>
              <a:tblPr/>
              <a:tblGrid>
                <a:gridCol w="1645920"/>
                <a:gridCol w="3108960"/>
                <a:gridCol w="3383280"/>
                <a:gridCol w="310896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範圍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5B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5B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5B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5B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位置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5B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5B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5B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5B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用途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5B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5B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5B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5B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共享對象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5B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5B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5B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5B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D2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管理政策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5B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5B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5B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5B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D2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/Library/.../CLAUDE.md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5B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5B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5B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5B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D2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IT/DevOps 管理的組織指令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5B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5B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5B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5B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D2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組織所有使用者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5B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5B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5B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5B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D2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專案指令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5B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5B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5B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5B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D2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./CLAUDE.md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5B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5B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5B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5B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D2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團隊共享的專案指令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5B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5B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5B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5B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D2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團隊成員（版控）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5B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5B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5B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5B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D2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使用者指令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5B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5B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5B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5B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D2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~/.claude/CLAUDE.md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5B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5B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5B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5B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D2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個人偏好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5B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5B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5B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5B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D2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僅自己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5B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5B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5B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5B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D2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本機指令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5B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5B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5B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5B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D2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./CLAUDE.local.md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5B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5B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5B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5B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D2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個人專案設定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5B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5B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5B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5B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D2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僅自己（不入版控）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5B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5B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5B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5B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7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0" y="6583680"/>
            <a:ext cx="9144000" cy="256032"/>
          </a:xfrm>
          <a:prstGeom prst="rect">
            <a:avLst/>
          </a:prstGeom>
          <a:solidFill>
            <a:srgbClr val="F9E4D4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6601968"/>
            <a:ext cx="11247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7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官方文件 — 記憶系統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9E4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D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撰寫有效指令的原則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530352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75B39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234440"/>
            <a:ext cx="365760" cy="365760"/>
          </a:xfrm>
          <a:prstGeom prst="ellipse">
            <a:avLst/>
          </a:prstGeom>
          <a:solidFill>
            <a:srgbClr val="C75B39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234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123444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大小控制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1645920"/>
            <a:ext cx="49377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每個 CLAUDE.md 目標控制在 200 行以內，過長會降低遵循度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92240" y="1097280"/>
            <a:ext cx="530352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75B39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675120" y="1234440"/>
            <a:ext cx="365760" cy="365760"/>
          </a:xfrm>
          <a:prstGeom prst="ellipse">
            <a:avLst/>
          </a:prstGeom>
          <a:solidFill>
            <a:srgbClr val="C75B39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1234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178040" y="123444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結構化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675120" y="1645920"/>
            <a:ext cx="49377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 Markdown 標題和項目符號分組相關指令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2926080"/>
            <a:ext cx="530352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75B39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3063240"/>
            <a:ext cx="365760" cy="365760"/>
          </a:xfrm>
          <a:prstGeom prst="ellipse">
            <a:avLst/>
          </a:prstGeom>
          <a:solidFill>
            <a:srgbClr val="C75B39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063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17320" y="306324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具體明確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" y="3474720"/>
            <a:ext cx="49377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「使用 2 格縮排」而非「適當格式化程式碼」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92240" y="2926080"/>
            <a:ext cx="530352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75B39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675120" y="3063240"/>
            <a:ext cx="365760" cy="365760"/>
          </a:xfrm>
          <a:prstGeom prst="ellipse">
            <a:avLst/>
          </a:prstGeom>
          <a:solidFill>
            <a:srgbClr val="C75B39"/>
          </a:solidFill>
          <a:ln/>
        </p:spPr>
      </p:sp>
      <p:sp>
        <p:nvSpPr>
          <p:cNvPr id="21" name="Text 19"/>
          <p:cNvSpPr/>
          <p:nvPr/>
        </p:nvSpPr>
        <p:spPr>
          <a:xfrm>
            <a:off x="6675120" y="3063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178040" y="306324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一致性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675120" y="3474720"/>
            <a:ext cx="49377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定期檢查避免矛盾指令；使用 claudeMdExcludes 排除不相關檔案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7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0" y="6583680"/>
            <a:ext cx="9144000" cy="256032"/>
          </a:xfrm>
          <a:prstGeom prst="rect">
            <a:avLst/>
          </a:prstGeom>
          <a:solidFill>
            <a:srgbClr val="F9E4D4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6601968"/>
            <a:ext cx="11247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7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官方文件 — 記憶系統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9E4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D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/init 命令快速建立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75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自動生成 CLAUDE.md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執行 /init 自動分析程式碼庫並產生 CLAUDE.md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2148840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包含建置命令、測試指令、專案慣例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834640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若 CLAUDE.md 已存在，/init 會建議改進而非覆蓋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3520440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後續可補充 Claude 無法自動發現的指令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760720" y="1005840"/>
            <a:ext cx="5943600" cy="4297680"/>
          </a:xfrm>
          <a:prstGeom prst="rect">
            <a:avLst/>
          </a:prstGeom>
          <a:solidFill>
            <a:srgbClr val="3D2B1F"/>
          </a:solidFill>
          <a:ln w="12700">
            <a:solidFill>
              <a:srgbClr val="C75B3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89320" y="1234440"/>
            <a:ext cx="54864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CLAUDE.md 生成範例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專案結構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React + TypeScript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npm 為包管理器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Jest 用於測試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建置命令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build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測試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test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執行指令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start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程式碼風格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- 2 格縮排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使用 Prettier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ESLint 檢查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7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0" y="6583680"/>
            <a:ext cx="9144000" cy="256032"/>
          </a:xfrm>
          <a:prstGeom prst="rect">
            <a:avLst/>
          </a:prstGeom>
          <a:solidFill>
            <a:srgbClr val="F9E4D4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6601968"/>
            <a:ext cx="11247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7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官方文件 — 記憶系統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5C2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743200"/>
            <a:ext cx="103628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.claude/rules/ 規則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2743200" y="3840480"/>
            <a:ext cx="6705295" cy="73152"/>
          </a:xfrm>
          <a:prstGeom prst="rect">
            <a:avLst/>
          </a:prstGeom>
          <a:solidFill>
            <a:srgbClr val="E8A87C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7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9E4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D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規則目錄結構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5029200" cy="4846320"/>
          </a:xfrm>
          <a:prstGeom prst="rect">
            <a:avLst/>
          </a:prstGeom>
          <a:solidFill>
            <a:srgbClr val="3D2B1F"/>
          </a:solidFill>
          <a:ln w="12700">
            <a:solidFill>
              <a:srgbClr val="C75B3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34440"/>
            <a:ext cx="466344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your-project/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.claude/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CLAUDE.md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rules/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├── code-style.md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├── testing.md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└── security.md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0" y="100584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75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目錄結構說明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669280" y="146304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.claude/ 資料夾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852160" y="173736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7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存放所有 Claude Code 組態檔案和規則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669280" y="233172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852160" y="260604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7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主要專案指令和全域設定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69280" y="320040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rules/ 子資料夾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852160" y="347472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7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存放模組化的主題規則檔案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669280" y="406908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檔名即描述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852160" y="434340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7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每個 .md 檔案涵蓋一個主題，如 code-style.md、testing.md、security.md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7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0" y="6583680"/>
            <a:ext cx="9144000" cy="256032"/>
          </a:xfrm>
          <a:prstGeom prst="rect">
            <a:avLst/>
          </a:prstGeom>
          <a:solidFill>
            <a:srgbClr val="F9E4D4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6601968"/>
            <a:ext cx="11247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7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官方文件 — 記憶系統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9E4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D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路徑限定規則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1247120" cy="1188720"/>
          </a:xfrm>
          <a:prstGeom prst="rect">
            <a:avLst/>
          </a:prstGeom>
          <a:solidFill>
            <a:srgbClr val="3D2B1F"/>
          </a:solidFill>
          <a:ln w="12700">
            <a:solidFill>
              <a:srgbClr val="C75B3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143000"/>
            <a:ext cx="107899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"src/api/**/*.ts"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API 開發規則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所有 API 端點必須包含輸入驗證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使用標準錯誤回應格式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 YAML frontmatter 的 paths 欄位限定規則只在操作匹配檔案時載入</a:t>
            </a:r>
            <a:endParaRPr lang="en-US" sz="11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834640"/>
          <a:ext cx="11247120" cy="2560320"/>
        </p:xfrm>
        <a:graphic>
          <a:graphicData uri="http://schemas.openxmlformats.org/drawingml/2006/table">
            <a:tbl>
              <a:tblPr/>
              <a:tblGrid>
                <a:gridCol w="3657600"/>
                <a:gridCol w="758952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模式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5B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5B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5B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5B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匹配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5B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5B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5B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5B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D2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**/*.ts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5B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5B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5B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5B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D2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任何目錄下的 TypeScript 檔案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5B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5B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5B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5B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D2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src/**/*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5B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5B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5B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5B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D2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src/ 下所有檔案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5B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5B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5B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5B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D2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src/components/*.tsx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5B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5B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5B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5B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D2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特定目錄的 React 元件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5B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5B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5B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5B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D2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src/api/**/handler.ts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5B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5B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5B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5B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D2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資料夾下所有 handler.ts 檔案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5B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5B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5B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5B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7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0" y="6583680"/>
            <a:ext cx="9144000" cy="256032"/>
          </a:xfrm>
          <a:prstGeom prst="rect">
            <a:avLst/>
          </a:prstGeom>
          <a:solidFill>
            <a:srgbClr val="F9E4D4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6601968"/>
            <a:ext cx="11247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7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官方文件 — 記憶系統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5C2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743200"/>
            <a:ext cx="103628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@import 匯入語法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2743200" y="3840480"/>
            <a:ext cx="6705295" cy="73152"/>
          </a:xfrm>
          <a:prstGeom prst="rect">
            <a:avLst/>
          </a:prstGeom>
          <a:solidFill>
            <a:srgbClr val="E8A87C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7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9E4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D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@import 使用方式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1247120" cy="1371600"/>
          </a:xfrm>
          <a:prstGeom prst="rect">
            <a:avLst/>
          </a:prstGeom>
          <a:solidFill>
            <a:srgbClr val="3D2B1F"/>
          </a:solidFill>
          <a:ln w="12700">
            <a:solidFill>
              <a:srgbClr val="C75B3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188720"/>
            <a:ext cx="107899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CLAUDE.md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參見 @README 了解專案概覽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使用 @package.json 查看可用 npm 命令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額外指令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@docs/git-instructions.md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25603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75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重點特性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999232"/>
            <a:ext cx="109728" cy="109728"/>
          </a:xfrm>
          <a:prstGeom prst="ellipse">
            <a:avLst/>
          </a:prstGeom>
          <a:solidFill>
            <a:srgbClr val="C75B39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92608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 @path/to/file 語法匯入額外檔案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3438144"/>
            <a:ext cx="109728" cy="109728"/>
          </a:xfrm>
          <a:prstGeom prst="ellipse">
            <a:avLst/>
          </a:prstGeom>
          <a:solidFill>
            <a:srgbClr val="C75B39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364992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支援相對路徑和絕對路徑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877056"/>
            <a:ext cx="109728" cy="109728"/>
          </a:xfrm>
          <a:prstGeom prst="ellipse">
            <a:avLst/>
          </a:prstGeom>
          <a:solidFill>
            <a:srgbClr val="C75B39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803904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最大遞迴深度為 5 層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4315968"/>
            <a:ext cx="109728" cy="109728"/>
          </a:xfrm>
          <a:prstGeom prst="ellipse">
            <a:avLst/>
          </a:prstGeom>
          <a:solidFill>
            <a:srgbClr val="C75B39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242816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首次遇到外部匯入時顯示核准對話框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4754880"/>
            <a:ext cx="109728" cy="109728"/>
          </a:xfrm>
          <a:prstGeom prst="ellipse">
            <a:avLst/>
          </a:prstGeom>
          <a:solidFill>
            <a:srgbClr val="C75B39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681728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CLAUDE.local.md 用於不入版控的個人偏好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7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0" y="6583680"/>
            <a:ext cx="9144000" cy="256032"/>
          </a:xfrm>
          <a:prstGeom prst="rect">
            <a:avLst/>
          </a:prstGeom>
          <a:solidFill>
            <a:srgbClr val="F9E4D4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6601968"/>
            <a:ext cx="11247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7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官方文件 — 記憶系統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5C2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743200"/>
            <a:ext cx="103628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自動記憶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2743200" y="3840480"/>
            <a:ext cx="6705295" cy="73152"/>
          </a:xfrm>
          <a:prstGeom prst="rect">
            <a:avLst/>
          </a:prstGeom>
          <a:solidFill>
            <a:srgbClr val="E8A87C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7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9E4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D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自動記憶運作機制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329184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75B39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0972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75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自動學習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" y="146304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自動在工作中累積知識：建置命令、除錯心得、架構筆記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114800" y="1005840"/>
            <a:ext cx="329184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75B39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251960" y="10972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75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智能儲存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251960" y="146304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不是每次都會儲存，Claude 會判斷資訊是否對未來有用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680960" y="1005840"/>
            <a:ext cx="329184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75B39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818120" y="10972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75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儲存位置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818120" y="146304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~/.claude/projects/&lt;project&gt;/memory/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2651760"/>
            <a:ext cx="329184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75B39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5800" y="27432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75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索引機制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85800" y="310896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MEMORY.md 作為索引，前 200 行載入每次工作階段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0" y="2651760"/>
            <a:ext cx="329184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75B39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251960" y="27432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75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主題檔案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251960" y="310896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詳細筆記移至主題檔案（如 debugging.md）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680960" y="2651760"/>
            <a:ext cx="329184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75B39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818120" y="27432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75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Worktree 共享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818120" y="310896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 Git 倉庫的所有 worktree 共享同一記憶目錄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7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0" y="6583680"/>
            <a:ext cx="9144000" cy="256032"/>
          </a:xfrm>
          <a:prstGeom prst="rect">
            <a:avLst/>
          </a:prstGeom>
          <a:solidFill>
            <a:srgbClr val="F9E4D4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6601968"/>
            <a:ext cx="11247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7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官方文件 — 記憶系統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9E4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D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管理自動記憶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3474720" cy="2103120"/>
          </a:xfrm>
          <a:prstGeom prst="roundRect">
            <a:avLst/>
          </a:prstGeom>
          <a:solidFill>
            <a:srgbClr val="E07B4C"/>
          </a:solidFill>
          <a:ln w="25400">
            <a:solidFill>
              <a:srgbClr val="C75B39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1430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啟用/停用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16002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在 /memory 中切換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21031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或設定 autoMemoryEnabled: false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389120" y="1005840"/>
            <a:ext cx="3474720" cy="2103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75B39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26280" y="11430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75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環境變數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0" y="16002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停用：CLAUDE_CODE_DISABLE_AUTO_MEMORY=1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0" y="21031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啟用：CLAUDE_CODE_DISABLE_AUTO_MEMORY=0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138160" y="1005840"/>
            <a:ext cx="3474720" cy="2103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75B39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75320" y="11430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75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查看與編輯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321040" y="16002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執行 /memory 瀏覽記憶檔案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321040" y="21031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可直接編輯純 Markdown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34747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5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要求 Claude 記住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3840480"/>
            <a:ext cx="10789920" cy="548640"/>
          </a:xfrm>
          <a:prstGeom prst="rect">
            <a:avLst/>
          </a:prstGeom>
          <a:solidFill>
            <a:srgbClr val="FFF0E5"/>
          </a:solidFill>
          <a:ln w="12700">
            <a:solidFill>
              <a:srgbClr val="D476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3913632"/>
            <a:ext cx="10424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「記住我們使用 pnpm 而非 npm」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4526280"/>
            <a:ext cx="10789920" cy="548640"/>
          </a:xfrm>
          <a:prstGeom prst="rect">
            <a:avLst/>
          </a:prstGeom>
          <a:solidFill>
            <a:srgbClr val="FFF0E5"/>
          </a:solidFill>
          <a:ln w="12700">
            <a:solidFill>
              <a:srgbClr val="D4763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4599432"/>
            <a:ext cx="10424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「記下 API 測試需要本機 Redis 實例」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7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0" y="6583680"/>
            <a:ext cx="9144000" cy="256032"/>
          </a:xfrm>
          <a:prstGeom prst="rect">
            <a:avLst/>
          </a:prstGeom>
          <a:solidFill>
            <a:srgbClr val="F9E4D4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6601968"/>
            <a:ext cx="11247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7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官方文件 — 記憶系統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5C2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743200"/>
            <a:ext cx="103628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疑難排解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2743200" y="3840480"/>
            <a:ext cx="6705295" cy="73152"/>
          </a:xfrm>
          <a:prstGeom prst="rect">
            <a:avLst/>
          </a:prstGeom>
          <a:solidFill>
            <a:srgbClr val="E8A87C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7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9E4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D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常見問題與解決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3566160" cy="3657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4763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05840"/>
            <a:ext cx="3566160" cy="548640"/>
          </a:xfrm>
          <a:prstGeom prst="rect">
            <a:avLst/>
          </a:prstGeom>
          <a:solidFill>
            <a:srgbClr val="D4763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78992"/>
            <a:ext cx="3383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不遵循 CLAUDE.md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16916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執行 /memory 確認檔案有被載入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242316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讓指令更具體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" y="315468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檢查跨檔案是否有矛盾指令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297680" y="1005840"/>
            <a:ext cx="3566160" cy="3657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4763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97680" y="1005840"/>
            <a:ext cx="3566160" cy="548640"/>
          </a:xfrm>
          <a:prstGeom prst="rect">
            <a:avLst/>
          </a:prstGeom>
          <a:solidFill>
            <a:srgbClr val="D4763B"/>
          </a:solidFill>
          <a:ln/>
        </p:spPr>
      </p:sp>
      <p:sp>
        <p:nvSpPr>
          <p:cNvPr id="12" name="Text 10"/>
          <p:cNvSpPr/>
          <p:nvPr/>
        </p:nvSpPr>
        <p:spPr>
          <a:xfrm>
            <a:off x="4389120" y="1078992"/>
            <a:ext cx="3383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不知道自動記憶存了什麼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434840" y="16916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執行 /memory 選擇自動記憶資料夾瀏覽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046720" y="1005840"/>
            <a:ext cx="3566160" cy="3657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4763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0" y="1005840"/>
            <a:ext cx="3566160" cy="548640"/>
          </a:xfrm>
          <a:prstGeom prst="rect">
            <a:avLst/>
          </a:prstGeom>
          <a:solidFill>
            <a:srgbClr val="D4763B"/>
          </a:solidFill>
          <a:ln/>
        </p:spPr>
      </p:sp>
      <p:sp>
        <p:nvSpPr>
          <p:cNvPr id="16" name="Text 14"/>
          <p:cNvSpPr/>
          <p:nvPr/>
        </p:nvSpPr>
        <p:spPr>
          <a:xfrm>
            <a:off x="8138160" y="1078992"/>
            <a:ext cx="3383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 太大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183880" y="16916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將詳細內容移至 @import 的獨立檔案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183880" y="242316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使用 .claude/rules/ 分散指令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7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0" y="6583680"/>
            <a:ext cx="9144000" cy="256032"/>
          </a:xfrm>
          <a:prstGeom prst="rect">
            <a:avLst/>
          </a:prstGeom>
          <a:solidFill>
            <a:srgbClr val="F9E4D4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6601968"/>
            <a:ext cx="11247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7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官方文件 — 記憶系統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9E4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D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/compact 後指令消失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1247120" cy="1828800"/>
          </a:xfrm>
          <a:prstGeom prst="roundRect">
            <a:avLst/>
          </a:prstGeom>
          <a:solidFill>
            <a:srgbClr val="FFF0E5"/>
          </a:solidFill>
          <a:ln w="25400">
            <a:solidFill>
              <a:srgbClr val="E07B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1430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 完整保留壓縮：/compact 後 Claude 重新從磁碟讀取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1600200"/>
            <a:ext cx="10789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如果指令在壓縮後消失，表示它只存在於對話中，未寫入 CLAUDE.md。為確保跨工作階段指令持久化，重要指令必須加入 CLAUDE.md。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3108960"/>
            <a:ext cx="11247120" cy="73152"/>
          </a:xfrm>
          <a:prstGeom prst="rect">
            <a:avLst/>
          </a:prstGeom>
          <a:solidFill>
            <a:srgbClr val="E07B4C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329184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75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解決方案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3749040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經常性指令：將其寫入 CLAUDE.md 確保持久化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4224528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重要設定：在 .claude/CLAUDE.md 或 .claude/rules/ 中定義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4700016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個人偏好：加入 ~/.claude/CLAUDE.md 保存個人設定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5175504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驗證方式：使用 /memory 確認指令已被儲存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7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0" y="6583680"/>
            <a:ext cx="9144000" cy="256032"/>
          </a:xfrm>
          <a:prstGeom prst="rect">
            <a:avLst/>
          </a:prstGeom>
          <a:solidFill>
            <a:srgbClr val="F9E4D4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6601968"/>
            <a:ext cx="11247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7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官方文件 — 記憶系統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5C2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8A8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總結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914400" y="960120"/>
            <a:ext cx="10362895" cy="54864"/>
          </a:xfrm>
          <a:prstGeom prst="rect">
            <a:avLst/>
          </a:prstGeom>
          <a:solidFill>
            <a:srgbClr val="E8A87C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307592"/>
            <a:ext cx="256032" cy="256032"/>
          </a:xfrm>
          <a:prstGeom prst="ellipse">
            <a:avLst/>
          </a:prstGeom>
          <a:solidFill>
            <a:srgbClr val="C75B39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0759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51560" y="12344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 是您寫的持久指令；自動記憶是 Claude 自動學習的筆記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1901952"/>
            <a:ext cx="256032" cy="256032"/>
          </a:xfrm>
          <a:prstGeom prst="ellipse">
            <a:avLst/>
          </a:prstGeom>
          <a:solidFill>
            <a:srgbClr val="C75B39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90195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51560" y="18288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記憶有 6 層架構，從組織政策到自動記憶，越具體優先級越高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2496312"/>
            <a:ext cx="256032" cy="256032"/>
          </a:xfrm>
          <a:prstGeom prst="ellipse">
            <a:avLst/>
          </a:prstGeom>
          <a:solidFill>
            <a:srgbClr val="C75B39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49631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51560" y="242316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 .claude/rules/ 做模組化管理，支援路徑限定規則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3090672"/>
            <a:ext cx="256032" cy="256032"/>
          </a:xfrm>
          <a:prstGeom prst="ellipse">
            <a:avLst/>
          </a:prstGeom>
          <a:solidFill>
            <a:srgbClr val="C75B39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09067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51560" y="30175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@import 語法可匯入外部檔案，最大遞迴 5 層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685032"/>
            <a:ext cx="256032" cy="256032"/>
          </a:xfrm>
          <a:prstGeom prst="ellipse">
            <a:avLst/>
          </a:prstGeom>
          <a:solidFill>
            <a:srgbClr val="C75B39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68503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51560" y="36118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自動記憶 MEMORY.md 前 200 行載入，保持精簡是關鍵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4279392"/>
            <a:ext cx="256032" cy="256032"/>
          </a:xfrm>
          <a:prstGeom prst="ellipse">
            <a:avLst/>
          </a:prstGeom>
          <a:solidFill>
            <a:srgbClr val="C75B39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27939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51560" y="42062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定期用 /memory 檢查和維護您的記憶系統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7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2026-03-02T08:55:57Z</dcterms:created>
  <dcterms:modified xsi:type="dcterms:W3CDTF">2026-03-02T08:55:57Z</dcterms:modified>
</cp:coreProperties>
</file>