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運作原理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深入了解代理迴圈、工具系統與上下文管理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code.claude.com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課程目錄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645920" cy="64008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代理迴圈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1645920" cy="64008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工具系統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1097280"/>
            <a:ext cx="1645920" cy="64008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模型與上下文視窗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097280"/>
            <a:ext cx="1645920" cy="64008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環境與權限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097280"/>
            <a:ext cx="1645920" cy="64008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有效使用提示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深入探討 Claude Code 的核心概念與最佳實踐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代理迴圈概述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Fundamentals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核心機制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代理迴圈的核心機制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640080"/>
            <a:ext cx="457200" cy="457200"/>
          </a:xfrm>
          <a:prstGeom prst="roundRect">
            <a:avLst/>
          </a:prstGeom>
          <a:solidFill>
            <a:srgbClr val="C75B39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640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接收您的對話內容以及系統提示（包括CLAUDE.md記憶）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640080"/>
            <a:ext cx="457200" cy="457200"/>
          </a:xfrm>
          <a:prstGeom prst="roundRect">
            <a:avLst/>
          </a:prstGeom>
          <a:solidFill>
            <a:srgbClr val="C75B39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640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處理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分析上下文並決定是使用工具還是提供文字回應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95160" y="640080"/>
            <a:ext cx="457200" cy="457200"/>
          </a:xfrm>
          <a:prstGeom prst="roundRect">
            <a:avLst/>
          </a:prstGeom>
          <a:solidFill>
            <a:srgbClr val="C75B39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640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076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執行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1600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 Claude 調用工具，結果會被加入對話並回到步驟2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迴圈持續進行，直到 Claude 以文字回應結束（而非工具調用）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核心機制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代理迴圈流程圖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88720" cy="365760"/>
          </a:xfrm>
          <a:prstGeom prst="rect">
            <a:avLst/>
          </a:prstGeom>
          <a:solidFill>
            <a:srgbClr val="C75B39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1783080"/>
            <a:ext cx="365760" cy="914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7190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5B39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1645920"/>
            <a:ext cx="1188720" cy="365760"/>
          </a:xfrm>
          <a:prstGeom prst="rect">
            <a:avLst/>
          </a:prstGeom>
          <a:solidFill>
            <a:srgbClr val="C75B39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365760" cy="914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7190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5B39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1645920"/>
            <a:ext cx="1188720" cy="365760"/>
          </a:xfrm>
          <a:prstGeom prst="rect">
            <a:avLst/>
          </a:prstGeom>
          <a:solidFill>
            <a:srgbClr val="C75B39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工具調用?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783080"/>
            <a:ext cx="365760" cy="914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7190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5B39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1645920"/>
            <a:ext cx="1188720" cy="365760"/>
          </a:xfrm>
          <a:prstGeom prst="rect">
            <a:avLst/>
          </a:prstGeom>
          <a:solidFill>
            <a:srgbClr val="E07B4C"/>
          </a:solidFill>
          <a:ln w="19050">
            <a:solidFill>
              <a:srgbClr val="C75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[是]執行工具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1783080"/>
            <a:ext cx="365760" cy="914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7190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5B39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0" y="1645920"/>
            <a:ext cx="1188720" cy="365760"/>
          </a:xfrm>
          <a:prstGeom prst="rect">
            <a:avLst/>
          </a:prstGeom>
          <a:solidFill>
            <a:srgbClr val="FFF0E5"/>
          </a:solidFill>
          <a:ln w="19050">
            <a:solidFill>
              <a:srgbClr val="D476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結果回饋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763B"/>
                </a:solidFill>
              </a:rPr>
              <a:t>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[否]文字回應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763B"/>
                </a:solidFill>
              </a:rPr>
              <a:t>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迴圈反饋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F9E4D4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611880"/>
            <a:ext cx="182880" cy="18288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611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系統操作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611880"/>
            <a:ext cx="182880" cy="182880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611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有條件執行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3611880"/>
            <a:ext cx="182880" cy="18288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611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結果反饋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流程設計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工具系統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System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四大工具類別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四大工具類別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92024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1920240" cy="41148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讀取工具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讀取檔案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搜尋程式碼庫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列出目錄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192024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D476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914400"/>
            <a:ext cx="1920240" cy="41148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914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編輯工具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建立檔案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編輯檔案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管理權限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92024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E07B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1920240" cy="411480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執行工具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執行 Shell 命令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執行測試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管理程序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2926080"/>
            <a:ext cx="192024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E8A8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2926080"/>
            <a:ext cx="1920240" cy="41148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互動工具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搜尋網頁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MCP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外部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工具分類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主要工具詳細列表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2743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工具名稱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914400"/>
            <a:ext cx="4114800" cy="2743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功能說明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560320" cy="2743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3716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88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0240" y="1188720"/>
            <a:ext cx="41148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讀取檔案內容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146304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146304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建立或覆蓋檔案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463040"/>
            <a:ext cx="2560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737360"/>
            <a:ext cx="13716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20240" y="1737360"/>
            <a:ext cx="41148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編輯檔案特定部分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1737360"/>
            <a:ext cx="256032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201168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20240" y="201168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Shell 命令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2011680"/>
            <a:ext cx="2560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2286000"/>
            <a:ext cx="13716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20240" y="2286000"/>
            <a:ext cx="41148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模式匹配檔案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2286000"/>
            <a:ext cx="256032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256032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560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920240" y="256032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搜尋檔案內容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35040" y="2560320"/>
            <a:ext cx="2560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2834640"/>
            <a:ext cx="13716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920240" y="2834640"/>
            <a:ext cx="41148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列出目錄內容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35040" y="2834640"/>
            <a:ext cx="256032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" y="310896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WebSearch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920240" y="310896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0" y="3108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搜尋網際網路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35040" y="3108960"/>
            <a:ext cx="2560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8640" y="3383280"/>
            <a:ext cx="13716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WebFetch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920240" y="3383280"/>
            <a:ext cx="41148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0" y="3383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擷取網頁內容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035040" y="3383280"/>
            <a:ext cx="256032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48640" y="365760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3657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TodoRead/Write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920240" y="365760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1168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管理待辦事項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35040" y="3657600"/>
            <a:ext cx="2560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2648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48640" y="3931920"/>
            <a:ext cx="13716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3931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920240" y="3931920"/>
            <a:ext cx="411480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執行後台任務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035040" y="3931920"/>
            <a:ext cx="2560320" cy="27432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264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工具清單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模型與上下文視窗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Context Window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認知架構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使用的模型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使用 Anthropic 最新的 Claude 模型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468880" cy="1280160"/>
          </a:xfrm>
          <a:prstGeom prst="rect">
            <a:avLst/>
          </a:prstGeom>
          <a:solidFill>
            <a:srgbClr val="FFF0E5"/>
          </a:solidFill>
          <a:ln w="1905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Haiku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874520"/>
            <a:ext cx="640080" cy="228600"/>
          </a:xfrm>
          <a:prstGeom prst="roundRect">
            <a:avLst/>
          </a:prstGeom>
          <a:solidFill>
            <a:srgbClr val="C75B39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最快的模型，適合簡單任務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468880" cy="1280160"/>
          </a:xfrm>
          <a:prstGeom prst="rect">
            <a:avLst/>
          </a:prstGeom>
          <a:solidFill>
            <a:srgbClr val="F9E4D4"/>
          </a:solidFill>
          <a:ln w="1905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874520"/>
            <a:ext cx="640080" cy="228600"/>
          </a:xfrm>
          <a:prstGeom prst="roundRect">
            <a:avLst/>
          </a:pr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874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平衡型模型，作為主要模型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463040"/>
            <a:ext cx="2468880" cy="1280160"/>
          </a:xfrm>
          <a:prstGeom prst="rect">
            <a:avLst/>
          </a:prstGeom>
          <a:solidFill>
            <a:srgbClr val="E07B4C"/>
          </a:solidFill>
          <a:ln w="1905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874520"/>
            <a:ext cx="640080" cy="228600"/>
          </a:xfrm>
          <a:prstGeom prst="roundRect">
            <a:avLst/>
          </a:prstGeom>
          <a:solidFill>
            <a:srgbClr val="C75B39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874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932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最強模型，適合複雜任務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8046720" cy="1371600"/>
          </a:xfrm>
          <a:prstGeom prst="rect">
            <a:avLst/>
          </a:prstGeom>
          <a:solidFill>
            <a:srgbClr val="F0E0D0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54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模型切換：</a:t>
            </a:r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/model 命令切換模型（Haiku、Sonnet、Opus）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子代理：</a:t>
            </a:r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子代理可使用不同的模型進行並行工作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模型選擇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上下文視窗管理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什麼是上下文視窗？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單一工作階段中 Claude 所能「看到」的所有內容（系統提示、CLAUDE.md、對話紀錄、工具結果）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🗜️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自動壓縮機制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接近上下文限制時，系統會自動壓縮舊對話，保留最新部分與關鍵資訊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壓縮策略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1645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建立精確摘要，保留對當前任務最相關的信息，避免丟失重要上下文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8046720" cy="7315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提示：善用 /compact 命令主動壓縮對話，延長上下文視窗的有效使用壽命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上下文管理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環境與權限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Permissions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安全存取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可存取的內容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4023360" cy="36576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Claude 可以存取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Claude 無法存取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工作目錄中的檔案和目錄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--add-dir 加入的額外目錄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環境變數（PATH、SHELL等）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通過 MCP 伺服器連接的外部工具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工作目錄外的檔案（除非授權）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全域系統設定和註冊表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其他使用者的資料和檔案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瀏覽器或桌面 UI 內容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FFF0E5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安全設計：明確的存取邊界確保用戶資料安全，防止不必要的權限提升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存取範圍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權限與安全模式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2560320" cy="41148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允許模式（Allowlist）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 Claude 可以自動執行的工具和命令，無需人工確認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5603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560320" cy="411480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拒絕模式（Denylist）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定義永遠需要人工確認的危險操作，提高安全性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6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914400"/>
            <a:ext cx="2560320" cy="41148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35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檢查點系統（Checkpoints）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828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執行工具前自動建立 Git 檢查點，可隨時還原變更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8046720" cy="109728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層級化安全策略：</a:t>
            </a:r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加快工作流程，Denylist 保護關鍵操作，Checkpoint 系統確保可回溯性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安全模式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有效使用提示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262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使用策略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提升效率的關鍵技巧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274320" cy="274320"/>
          </a:xfrm>
          <a:prstGeom prst="roundRect">
            <a:avLst/>
          </a:prstGeom>
          <a:solidFill>
            <a:srgbClr val="C75B39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1371600"/>
            <a:ext cx="91440" cy="45720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005840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05156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保持工作階段聚焦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2801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每個工作階段處理一個任務，避免上下文混亂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828800"/>
            <a:ext cx="274320" cy="274320"/>
          </a:xfrm>
          <a:prstGeom prst="roundRect">
            <a:avLst/>
          </a:prstGeom>
          <a:solidFill>
            <a:srgbClr val="C75B39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103120"/>
            <a:ext cx="91440" cy="45720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63040" y="1737360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178308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提供具體上下文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0116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@file 引用特定檔案，而非讓 Claude 搜尋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560320"/>
            <a:ext cx="274320" cy="274320"/>
          </a:xfrm>
          <a:prstGeom prst="roundRect">
            <a:avLst/>
          </a:prstGeom>
          <a:solidFill>
            <a:srgbClr val="C75B39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2834640"/>
            <a:ext cx="91440" cy="45720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2468880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45920" y="251460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善用 CLAUDE.md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27432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將常用指令和偏好寫入專案記憶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291840"/>
            <a:ext cx="274320" cy="274320"/>
          </a:xfrm>
          <a:prstGeom prst="roundRect">
            <a:avLst/>
          </a:prstGeom>
          <a:solidFill>
            <a:srgbClr val="C75B39"/>
          </a:solidFill>
          <a:ln w="12700">
            <a:solidFill>
              <a:srgbClr val="C75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63040" y="3200400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45920" y="324612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✔️ 驗證結果質量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4747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使用測試和審查來確認 Claude 的輸出品質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效率技巧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工作階段管理最佳做法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463040" cy="36576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914400"/>
            <a:ext cx="3840480" cy="36576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說明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914400"/>
            <a:ext cx="2560320" cy="36576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914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1463040" cy="77724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小範圍任務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1280160"/>
            <a:ext cx="3840480" cy="77724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325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一次處理一個明確任務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1280160"/>
            <a:ext cx="2560320" cy="77724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325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更高準確率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1463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031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/compact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0" y="205740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21031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壓縮過長對話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2057400"/>
            <a:ext cx="2560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103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延長上下文壽命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1463040" cy="77724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803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新工作階段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0" y="2834640"/>
            <a:ext cx="3840480" cy="77724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28803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切換主題時開新工作階段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2834640"/>
            <a:ext cx="2560320" cy="777240"/>
          </a:xfrm>
          <a:prstGeom prst="rect">
            <a:avLst/>
          </a:prstGeom>
          <a:solidFill>
            <a:srgbClr val="FFF0E5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880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避免上下文污染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14630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576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恢復工作階段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361188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3657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--resume 繼續之前的工作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3611880"/>
            <a:ext cx="2560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5E6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保持連續性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運作原理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參考來源：</a:t>
            </a:r>
            <a:pPr indent="0" marL="0">
              <a:buNone/>
            </a:pPr>
            <a:r>
              <a:rPr lang="en-US" sz="8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官方文件 — Claude Code 的運作方式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8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工作階段策略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總結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代理迴圈是 Claude Code 的核心：提示 → 分析 → 工具/回應 → 循環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四大工具類別涵蓋讀取、編輯、執行、互動，滿足各類開發需求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上下文視窗管理決定了工作階段的效率與成本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安全模式與檢查點系統確保操作安全，可隨時還原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聚焦式工作階段搭配具體上下文是提升效率的關鍵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22860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2026-03-02T08:55:11Z</dcterms:created>
  <dcterms:modified xsi:type="dcterms:W3CDTF">2026-03-02T08:55:11Z</dcterms:modified>
</cp:coreProperties>
</file>